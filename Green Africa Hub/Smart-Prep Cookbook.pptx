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handoutMasterIdLst>
    <p:handoutMasterId r:id="rId57"/>
  </p:handout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294" r:id="rId42"/>
    <p:sldId id="295" r:id="rId43"/>
    <p:sldId id="296" r:id="rId44"/>
    <p:sldId id="297" r:id="rId45"/>
    <p:sldId id="298" r:id="rId46"/>
    <p:sldId id="299" r:id="rId47"/>
    <p:sldId id="300" r:id="rId48"/>
    <p:sldId id="301" r:id="rId49"/>
    <p:sldId id="302" r:id="rId50"/>
    <p:sldId id="303" r:id="rId51"/>
    <p:sldId id="304" r:id="rId52"/>
    <p:sldId id="305" r:id="rId53"/>
    <p:sldId id="306" r:id="rId54"/>
    <p:sldId id="307" r:id="rId55"/>
    <p:sldId id="308" r:id="rId56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0" Type="http://schemas.openxmlformats.org/officeDocument/2006/relationships/tableStyles" Target="tableStyles.xml"/><Relationship Id="rId6" Type="http://schemas.openxmlformats.org/officeDocument/2006/relationships/slide" Target="slides/slide3.xml"/><Relationship Id="rId59" Type="http://schemas.openxmlformats.org/officeDocument/2006/relationships/viewProps" Target="viewProps.xml"/><Relationship Id="rId58" Type="http://schemas.openxmlformats.org/officeDocument/2006/relationships/presProps" Target="presProps.xml"/><Relationship Id="rId57" Type="http://schemas.openxmlformats.org/officeDocument/2006/relationships/handoutMaster" Target="handoutMasters/handoutMaster1.xml"/><Relationship Id="rId56" Type="http://schemas.openxmlformats.org/officeDocument/2006/relationships/slide" Target="slides/slide53.xml"/><Relationship Id="rId55" Type="http://schemas.openxmlformats.org/officeDocument/2006/relationships/slide" Target="slides/slide52.xml"/><Relationship Id="rId54" Type="http://schemas.openxmlformats.org/officeDocument/2006/relationships/slide" Target="slides/slide51.xml"/><Relationship Id="rId53" Type="http://schemas.openxmlformats.org/officeDocument/2006/relationships/slide" Target="slides/slide50.xml"/><Relationship Id="rId52" Type="http://schemas.openxmlformats.org/officeDocument/2006/relationships/slide" Target="slides/slide49.xml"/><Relationship Id="rId51" Type="http://schemas.openxmlformats.org/officeDocument/2006/relationships/slide" Target="slides/slide48.xml"/><Relationship Id="rId50" Type="http://schemas.openxmlformats.org/officeDocument/2006/relationships/slide" Target="slides/slide47.xml"/><Relationship Id="rId5" Type="http://schemas.openxmlformats.org/officeDocument/2006/relationships/slide" Target="slides/slide2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notesMaster" Target="notesMasters/notesMaster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1671638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675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2185095" y="0"/>
            <a:ext cx="1671638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675"/>
            </a:lvl1pPr>
          </a:lstStyle>
          <a:p>
            <a:fld id="{696C064A-D61B-4B21-B757-51A9B82445B8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1671638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675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2185095" y="8685213"/>
            <a:ext cx="1671638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675"/>
            </a:lvl1pPr>
          </a:lstStyle>
          <a:p>
            <a:fld id="{50305E07-67EA-4042-A3F6-853A8AD8D20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9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0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2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3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4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5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6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7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8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9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0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2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785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494860" y="1464945"/>
            <a:ext cx="6154162" cy="685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5400"/>
              </a:lnSpc>
              <a:buNone/>
            </a:pPr>
            <a:r>
              <a:rPr lang="en-US" sz="45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Smart-Prep Cookbook</a:t>
            </a:r>
            <a:endParaRPr lang="en-US" sz="4500" dirty="0"/>
          </a:p>
        </p:txBody>
      </p:sp>
      <p:sp>
        <p:nvSpPr>
          <p:cNvPr id="3" name="Text 1"/>
          <p:cNvSpPr/>
          <p:nvPr/>
        </p:nvSpPr>
        <p:spPr>
          <a:xfrm>
            <a:off x="1766285" y="2303145"/>
            <a:ext cx="5611430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2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African &amp; Caribbean Recipes for Magimix Cook Expert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2729820" y="2775585"/>
            <a:ext cx="3684361" cy="24003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9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Green Africa Hub Ltd · Company No. 17107299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2283028" y="3168015"/>
            <a:ext cx="4577944" cy="2133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greenafricahub.co.uk · gracetuase@gmail.com · +44 7776 643169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279095" y="3609975"/>
            <a:ext cx="4585692" cy="3733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© 2026 Green Africa Hub Ltd. All Rights Reserved.</a:t>
            </a:r>
            <a:endParaRPr lang="en-US" sz="1050" dirty="0"/>
          </a:p>
          <a:p>
            <a:pPr marL="0" indent="0" algn="ctr">
              <a:lnSpc>
                <a:spcPts val="147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Smart-Prep methodology is proprietary. Unauthorized reproduction prohibited.</a:t>
            </a:r>
            <a:endParaRPr lang="en-US" sz="1050" dirty="0"/>
          </a:p>
        </p:txBody>
      </p:sp>
      <p:pic>
        <p:nvPicPr>
          <p:cNvPr id="8" name="Picture 7" descr="177341291879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1610" y="165735"/>
            <a:ext cx="1340485" cy="1310005"/>
          </a:xfrm>
          <a:prstGeom prst="rect">
            <a:avLst/>
          </a:prstGeom>
        </p:spPr>
      </p:pic>
      <p:pic>
        <p:nvPicPr>
          <p:cNvPr id="9" name="Picture 8" descr="177341291879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8129905" y="3999230"/>
            <a:ext cx="874395" cy="87439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04875" y="142875"/>
            <a:ext cx="2416488" cy="16835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ts val="1325"/>
              </a:lnSpc>
              <a:buNone/>
            </a:pPr>
            <a:r>
              <a:rPr lang="en-US" sz="1020" b="1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Green Africa Hub Ltd</a:t>
            </a:r>
            <a:endParaRPr lang="en-US" sz="1020" dirty="0"/>
          </a:p>
        </p:txBody>
      </p:sp>
      <p:sp>
        <p:nvSpPr>
          <p:cNvPr id="3" name="Text 1"/>
          <p:cNvSpPr/>
          <p:nvPr/>
        </p:nvSpPr>
        <p:spPr>
          <a:xfrm>
            <a:off x="904875" y="311229"/>
            <a:ext cx="2416488" cy="16835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ts val="1325"/>
              </a:lnSpc>
              <a:buNone/>
            </a:pPr>
            <a:r>
              <a:rPr lang="en-US" sz="1020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Sustaining Heritage, Powering the Future</a:t>
            </a:r>
            <a:endParaRPr lang="en-US" sz="1020" dirty="0"/>
          </a:p>
        </p:txBody>
      </p:sp>
      <p:sp>
        <p:nvSpPr>
          <p:cNvPr id="4" name="Text 2"/>
          <p:cNvSpPr/>
          <p:nvPr/>
        </p:nvSpPr>
        <p:spPr>
          <a:xfrm>
            <a:off x="609600" y="1371600"/>
            <a:ext cx="8083296" cy="4114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Welcome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09600" y="2011680"/>
            <a:ext cx="8083296" cy="24003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ts val="189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This cookbook is specially designed for vibrant African and Caribbean communities worldwide.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09600" y="2480310"/>
            <a:ext cx="7924800" cy="4800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ts val="189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Each recipe fuses cultural heritage with modern green technology — beloved traditional dishes reimagined for energy-efficient cooking using the Magimix Cook Expert.</a:t>
            </a:r>
            <a:endParaRPr lang="en-US" sz="1350" dirty="0"/>
          </a:p>
        </p:txBody>
      </p:sp>
      <p:pic>
        <p:nvPicPr>
          <p:cNvPr id="9" name="Picture 8" descr="177341291879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" y="86995"/>
            <a:ext cx="624205" cy="624205"/>
          </a:xfrm>
          <a:prstGeom prst="rect">
            <a:avLst/>
          </a:prstGeom>
        </p:spPr>
      </p:pic>
      <p:pic>
        <p:nvPicPr>
          <p:cNvPr id="10" name="Picture 9" descr="177341291879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51825" y="4215765"/>
            <a:ext cx="624205" cy="62420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04875" y="142875"/>
            <a:ext cx="1323980" cy="16835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ts val="1325"/>
              </a:lnSpc>
              <a:buNone/>
            </a:pPr>
            <a:r>
              <a:rPr lang="en-US" sz="1020" b="1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Green Africa Hub Ltd</a:t>
            </a:r>
            <a:endParaRPr lang="en-US" sz="1020" dirty="0"/>
          </a:p>
        </p:txBody>
      </p:sp>
      <p:sp>
        <p:nvSpPr>
          <p:cNvPr id="3" name="Text 1"/>
          <p:cNvSpPr/>
          <p:nvPr/>
        </p:nvSpPr>
        <p:spPr>
          <a:xfrm>
            <a:off x="904875" y="311230"/>
            <a:ext cx="1323980" cy="16835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ts val="1325"/>
              </a:lnSpc>
              <a:buNone/>
            </a:pPr>
            <a:r>
              <a:rPr lang="en-US" sz="1020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greenafricahub.co.uk</a:t>
            </a:r>
            <a:endParaRPr lang="en-US" sz="1020" dirty="0"/>
          </a:p>
        </p:txBody>
      </p:sp>
      <p:sp>
        <p:nvSpPr>
          <p:cNvPr id="4" name="Text 2"/>
          <p:cNvSpPr/>
          <p:nvPr/>
        </p:nvSpPr>
        <p:spPr>
          <a:xfrm>
            <a:off x="609600" y="1371600"/>
            <a:ext cx="8083296" cy="4114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About Smart-Prep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09600" y="2011681"/>
            <a:ext cx="7924800" cy="4800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ts val="189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Smart-Prep is our proprietary methodology (Green Africa Hub Ltd) that adapts traditional recipes for the Magimix Cook Expert.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914400" y="2644140"/>
            <a:ext cx="7620000" cy="15773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Reduces cooking time by 25%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Lowers energy costs by £3–£5 per recipe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Minimizes carbon emissions by 58%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Preserves authentic flavours</a:t>
            </a:r>
            <a:endParaRPr lang="en-US" sz="1350" dirty="0"/>
          </a:p>
        </p:txBody>
      </p:sp>
      <p:pic>
        <p:nvPicPr>
          <p:cNvPr id="9" name="Picture 8" descr="177341291879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" y="86995"/>
            <a:ext cx="624205" cy="624205"/>
          </a:xfrm>
          <a:prstGeom prst="rect">
            <a:avLst/>
          </a:prstGeom>
        </p:spPr>
      </p:pic>
      <p:pic>
        <p:nvPicPr>
          <p:cNvPr id="7" name="Picture 6" descr="177341291879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68335" y="4221480"/>
            <a:ext cx="624205" cy="62420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04875" y="142875"/>
            <a:ext cx="1323980" cy="16835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ts val="1325"/>
              </a:lnSpc>
              <a:buNone/>
            </a:pPr>
            <a:r>
              <a:rPr lang="en-US" sz="1020" b="1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Green Africa Hub Ltd</a:t>
            </a:r>
            <a:endParaRPr lang="en-US" sz="1020" dirty="0"/>
          </a:p>
        </p:txBody>
      </p:sp>
      <p:sp>
        <p:nvSpPr>
          <p:cNvPr id="3" name="Text 1"/>
          <p:cNvSpPr/>
          <p:nvPr/>
        </p:nvSpPr>
        <p:spPr>
          <a:xfrm>
            <a:off x="904875" y="311230"/>
            <a:ext cx="1323980" cy="16835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ts val="1325"/>
              </a:lnSpc>
              <a:buNone/>
            </a:pPr>
            <a:r>
              <a:rPr lang="en-US" sz="1020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+44 7776 643169</a:t>
            </a:r>
            <a:endParaRPr lang="en-US" sz="1020" dirty="0"/>
          </a:p>
        </p:txBody>
      </p:sp>
      <p:sp>
        <p:nvSpPr>
          <p:cNvPr id="4" name="Text 2"/>
          <p:cNvSpPr/>
          <p:nvPr/>
        </p:nvSpPr>
        <p:spPr>
          <a:xfrm>
            <a:off x="609600" y="1371600"/>
            <a:ext cx="8083296" cy="4114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How to Use This Cookbook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09600" y="2011681"/>
            <a:ext cx="8083296" cy="24003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ts val="189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Each recipe includes: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914400" y="2404110"/>
            <a:ext cx="7620000" cy="15773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Step-by-step Magimix Cook Expert instructions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Nutritional information per serving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Allergen information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Carbon savings vs traditional gas cooking</a:t>
            </a:r>
            <a:endParaRPr lang="en-US" sz="1350" dirty="0"/>
          </a:p>
        </p:txBody>
      </p:sp>
      <p:pic>
        <p:nvPicPr>
          <p:cNvPr id="9" name="Picture 8" descr="177341291879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" y="86995"/>
            <a:ext cx="624205" cy="624205"/>
          </a:xfrm>
          <a:prstGeom prst="rect">
            <a:avLst/>
          </a:prstGeom>
        </p:spPr>
      </p:pic>
      <p:pic>
        <p:nvPicPr>
          <p:cNvPr id="7" name="Picture 6" descr="177341291879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68945" y="4133850"/>
            <a:ext cx="624205" cy="62420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785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12839" y="1108711"/>
            <a:ext cx="1918204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32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Recipe 1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09600" y="1809750"/>
            <a:ext cx="7924800" cy="1371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5400"/>
              </a:lnSpc>
              <a:buNone/>
            </a:pPr>
            <a:r>
              <a:rPr lang="en-US" sz="45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Caribbean Bean &amp; Meatball Pasta</a:t>
            </a:r>
            <a:endParaRPr lang="en-US" sz="4500" dirty="0"/>
          </a:p>
        </p:txBody>
      </p:sp>
      <p:sp>
        <p:nvSpPr>
          <p:cNvPr id="4" name="Text 2"/>
          <p:cNvSpPr/>
          <p:nvPr/>
        </p:nvSpPr>
        <p:spPr>
          <a:xfrm>
            <a:off x="2517902" y="3409950"/>
            <a:ext cx="4108078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2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Serves 4-6 · Prep 15 min · Cook 25 min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04875" y="142875"/>
            <a:ext cx="1409962" cy="16835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ts val="1325"/>
              </a:lnSpc>
              <a:buNone/>
            </a:pPr>
            <a:r>
              <a:rPr lang="en-US" sz="1020" b="1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Bean &amp; Meatball Pasta</a:t>
            </a:r>
            <a:endParaRPr lang="en-US" sz="1020" dirty="0"/>
          </a:p>
        </p:txBody>
      </p:sp>
      <p:sp>
        <p:nvSpPr>
          <p:cNvPr id="3" name="Text 1"/>
          <p:cNvSpPr/>
          <p:nvPr/>
        </p:nvSpPr>
        <p:spPr>
          <a:xfrm>
            <a:off x="609600" y="1371600"/>
            <a:ext cx="8083296" cy="4114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Ingredients: Meatballs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914400" y="1935480"/>
            <a:ext cx="7620000" cy="32689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500g lean beef mince (or lamb)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 medium onion, finely chopped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3 cloves garlic, minced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 scotch bonnet pepper, deseeded &amp; chopped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 tsp dried thyme, 1 tsp paprika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 tsp all-purpose seasoning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2 spring onions, chopped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 egg, beaten · 50g breadcrumbs</a:t>
            </a:r>
            <a:endParaRPr lang="en-US" sz="1350" dirty="0"/>
          </a:p>
        </p:txBody>
      </p:sp>
      <p:pic>
        <p:nvPicPr>
          <p:cNvPr id="9" name="Picture 8" descr="177341291879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" y="86995"/>
            <a:ext cx="624205" cy="624205"/>
          </a:xfrm>
          <a:prstGeom prst="rect">
            <a:avLst/>
          </a:prstGeom>
        </p:spPr>
      </p:pic>
      <p:pic>
        <p:nvPicPr>
          <p:cNvPr id="5" name="Picture 4" descr="177341291879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09280" y="4173855"/>
            <a:ext cx="624205" cy="62420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04875" y="142875"/>
            <a:ext cx="1409962" cy="16835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ts val="1325"/>
              </a:lnSpc>
              <a:buNone/>
            </a:pPr>
            <a:r>
              <a:rPr lang="en-US" sz="1020" b="1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Bean &amp; Meatball Pasta</a:t>
            </a:r>
            <a:endParaRPr lang="en-US" sz="1020" dirty="0"/>
          </a:p>
        </p:txBody>
      </p:sp>
      <p:sp>
        <p:nvSpPr>
          <p:cNvPr id="3" name="Text 1"/>
          <p:cNvSpPr/>
          <p:nvPr/>
        </p:nvSpPr>
        <p:spPr>
          <a:xfrm>
            <a:off x="609600" y="1371600"/>
            <a:ext cx="8083296" cy="4114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Ingredients: Sauce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914400" y="1935480"/>
            <a:ext cx="7620000" cy="32689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400g tin red kidney beans, drained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400g tin chopped tomatoes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200ml coconut milk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 medium onion, diced · 3 cloves garlic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2 tbsp tomato paste · 1 green bell pepper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 tsp curry powder · 1 tsp dried thyme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300ml vegetable stock · 2 stock cubes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400g pasta (penne or rigatoni)</a:t>
            </a:r>
            <a:endParaRPr lang="en-US" sz="1350" dirty="0"/>
          </a:p>
        </p:txBody>
      </p:sp>
      <p:pic>
        <p:nvPicPr>
          <p:cNvPr id="9" name="Picture 8" descr="177341291879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" y="86995"/>
            <a:ext cx="624205" cy="624205"/>
          </a:xfrm>
          <a:prstGeom prst="rect">
            <a:avLst/>
          </a:prstGeom>
        </p:spPr>
      </p:pic>
      <p:pic>
        <p:nvPicPr>
          <p:cNvPr id="5" name="Picture 4" descr="177341291879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68945" y="4148455"/>
            <a:ext cx="624205" cy="62420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04875" y="142875"/>
            <a:ext cx="1409962" cy="16835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ts val="1325"/>
              </a:lnSpc>
              <a:buNone/>
            </a:pPr>
            <a:r>
              <a:rPr lang="en-US" sz="1020" b="1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Bean &amp; Meatball Pasta</a:t>
            </a:r>
            <a:endParaRPr lang="en-US" sz="1020" dirty="0"/>
          </a:p>
        </p:txBody>
      </p:sp>
      <p:sp>
        <p:nvSpPr>
          <p:cNvPr id="3" name="Text 1"/>
          <p:cNvSpPr/>
          <p:nvPr/>
        </p:nvSpPr>
        <p:spPr>
          <a:xfrm>
            <a:off x="609600" y="1371600"/>
            <a:ext cx="8083296" cy="4114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Method (Part 1)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914400" y="1935482"/>
            <a:ext cx="7620000" cy="15773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Combine meatball ingredients, shape into 16-20 balls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Magimix: Add onion, garlic, bell pepper · Speed 5, 10 sec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Add oil · 120°C, Speed 1, 5 min to sauté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Add tomato paste, curry, thyme · Cook 1 min at 120°C</a:t>
            </a:r>
            <a:endParaRPr lang="en-US" sz="1350" dirty="0"/>
          </a:p>
        </p:txBody>
      </p:sp>
      <p:pic>
        <p:nvPicPr>
          <p:cNvPr id="9" name="Picture 8" descr="177341291879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" y="86995"/>
            <a:ext cx="624205" cy="624205"/>
          </a:xfrm>
          <a:prstGeom prst="rect">
            <a:avLst/>
          </a:prstGeom>
        </p:spPr>
      </p:pic>
      <p:pic>
        <p:nvPicPr>
          <p:cNvPr id="5" name="Picture 4" descr="177341291879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1970" y="4114800"/>
            <a:ext cx="624205" cy="62420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04875" y="142875"/>
            <a:ext cx="1409962" cy="16835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ts val="1325"/>
              </a:lnSpc>
              <a:buNone/>
            </a:pPr>
            <a:r>
              <a:rPr lang="en-US" sz="1020" b="1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Bean &amp; Meatball Pasta</a:t>
            </a:r>
            <a:endParaRPr lang="en-US" sz="1020" dirty="0"/>
          </a:p>
        </p:txBody>
      </p:sp>
      <p:sp>
        <p:nvSpPr>
          <p:cNvPr id="3" name="Text 1"/>
          <p:cNvSpPr/>
          <p:nvPr/>
        </p:nvSpPr>
        <p:spPr>
          <a:xfrm>
            <a:off x="609600" y="1371600"/>
            <a:ext cx="8083296" cy="4114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Method (Part 2)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914400" y="1935482"/>
            <a:ext cx="7620000" cy="15773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Add tomatoes, coconut milk, stock, stock cubes · 100°C, Speed 1, 10 min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Add meatballs · 90°C, Slow Stir, 15 min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Add beans in last 5 min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Cook pasta separately, combine &amp; serve</a:t>
            </a:r>
            <a:endParaRPr lang="en-US" sz="1350" dirty="0"/>
          </a:p>
        </p:txBody>
      </p:sp>
      <p:pic>
        <p:nvPicPr>
          <p:cNvPr id="9" name="Picture 8" descr="177341291879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" y="86995"/>
            <a:ext cx="624205" cy="624205"/>
          </a:xfrm>
          <a:prstGeom prst="rect">
            <a:avLst/>
          </a:prstGeom>
        </p:spPr>
      </p:pic>
      <p:pic>
        <p:nvPicPr>
          <p:cNvPr id="5" name="Picture 4" descr="177341291879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51825" y="4004945"/>
            <a:ext cx="624205" cy="62420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04875" y="142875"/>
            <a:ext cx="1409962" cy="16835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ts val="1325"/>
              </a:lnSpc>
              <a:buNone/>
            </a:pPr>
            <a:r>
              <a:rPr lang="en-US" sz="1020" b="1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Bean &amp; Meatball Pasta</a:t>
            </a:r>
            <a:endParaRPr lang="en-US" sz="1020" dirty="0"/>
          </a:p>
        </p:txBody>
      </p:sp>
      <p:sp>
        <p:nvSpPr>
          <p:cNvPr id="3" name="Text 1"/>
          <p:cNvSpPr/>
          <p:nvPr/>
        </p:nvSpPr>
        <p:spPr>
          <a:xfrm>
            <a:off x="609600" y="1371600"/>
            <a:ext cx="8083296" cy="4114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Nutrition &amp; Carbon Savings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09600" y="1935482"/>
            <a:ext cx="8083296" cy="24003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Per Serving:</a:t>
            </a:r>
            <a:r>
              <a:rPr lang="en-US" sz="1350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520 kcal · 32g protein · 58g carbs · 18g fat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09600" y="2327909"/>
            <a:ext cx="8083296" cy="24003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Allergens:</a:t>
            </a:r>
            <a:r>
              <a:rPr lang="en-US" sz="1350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Gluten, Egg, Celery (in stock)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09600" y="2720341"/>
            <a:ext cx="8083296" cy="2667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8BDF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Carbon Savings:</a:t>
            </a:r>
            <a:r>
              <a:rPr lang="en-US" sz="1500" dirty="0">
                <a:solidFill>
                  <a:srgbClr val="38BDF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2.46 kg CO₂ per serving (gas) → 2.43 kg CO₂ (Smart-Prep)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09600" y="2987041"/>
            <a:ext cx="8083296" cy="24003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ts val="1890"/>
              </a:lnSpc>
              <a:buNone/>
            </a:pPr>
            <a:r>
              <a:rPr lang="en-US" sz="1350" dirty="0">
                <a:solidFill>
                  <a:srgbClr val="10B98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Saving: 0.03 kg CO₂ (1.3%)</a:t>
            </a:r>
            <a:endParaRPr lang="en-US" sz="1350" dirty="0"/>
          </a:p>
        </p:txBody>
      </p:sp>
      <p:pic>
        <p:nvPicPr>
          <p:cNvPr id="9" name="Picture 8" descr="177341291879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" y="86995"/>
            <a:ext cx="624205" cy="624205"/>
          </a:xfrm>
          <a:prstGeom prst="rect">
            <a:avLst/>
          </a:prstGeom>
        </p:spPr>
      </p:pic>
      <p:pic>
        <p:nvPicPr>
          <p:cNvPr id="8" name="Picture 7" descr="177341291879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3080" y="3924300"/>
            <a:ext cx="624205" cy="62420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785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12839" y="1108709"/>
            <a:ext cx="1918204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32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Recipe 2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09600" y="1809750"/>
            <a:ext cx="7924800" cy="1371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5400"/>
              </a:lnSpc>
              <a:buNone/>
            </a:pPr>
            <a:r>
              <a:rPr lang="en-US" sz="45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African Style Plantain Pancakes</a:t>
            </a:r>
            <a:endParaRPr lang="en-US" sz="4500" dirty="0"/>
          </a:p>
        </p:txBody>
      </p:sp>
      <p:sp>
        <p:nvSpPr>
          <p:cNvPr id="4" name="Text 2"/>
          <p:cNvSpPr/>
          <p:nvPr/>
        </p:nvSpPr>
        <p:spPr>
          <a:xfrm>
            <a:off x="2621613" y="3409950"/>
            <a:ext cx="3900773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2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Serves 4 · Prep 10 min · Cook 20 min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04875" y="142875"/>
            <a:ext cx="1160517" cy="16835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ts val="1325"/>
              </a:lnSpc>
              <a:buNone/>
            </a:pPr>
            <a:r>
              <a:rPr lang="en-US" sz="1020" b="1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Plantain Pancakes</a:t>
            </a:r>
            <a:endParaRPr lang="en-US" sz="1020" dirty="0"/>
          </a:p>
        </p:txBody>
      </p:sp>
      <p:sp>
        <p:nvSpPr>
          <p:cNvPr id="3" name="Text 1"/>
          <p:cNvSpPr/>
          <p:nvPr/>
        </p:nvSpPr>
        <p:spPr>
          <a:xfrm>
            <a:off x="609600" y="1371600"/>
            <a:ext cx="8083296" cy="4114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Ingredients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914400" y="1935482"/>
            <a:ext cx="7620000" cy="24231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2 very ripe plantains (black skin)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200g plain flour · 2 tsp baking powder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 tsp cinnamon · 1/4 tsp nutmeg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2 tbsp brown sugar · 2 large eggs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300ml whole milk · 1 tsp vanilla extract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Vegetable oil for cooking</a:t>
            </a:r>
            <a:endParaRPr lang="en-US" sz="1350" dirty="0"/>
          </a:p>
        </p:txBody>
      </p:sp>
      <p:pic>
        <p:nvPicPr>
          <p:cNvPr id="9" name="Picture 8" descr="177341291879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" y="86995"/>
            <a:ext cx="624205" cy="624205"/>
          </a:xfrm>
          <a:prstGeom prst="rect">
            <a:avLst/>
          </a:prstGeom>
        </p:spPr>
      </p:pic>
      <p:pic>
        <p:nvPicPr>
          <p:cNvPr id="5" name="Picture 4" descr="177341291879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92770" y="4114800"/>
            <a:ext cx="624205" cy="62420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04875" y="142875"/>
            <a:ext cx="1160517" cy="16835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ts val="1325"/>
              </a:lnSpc>
              <a:buNone/>
            </a:pPr>
            <a:r>
              <a:rPr lang="en-US" sz="1020" b="1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Plantain Pancakes</a:t>
            </a:r>
            <a:endParaRPr lang="en-US" sz="1020" dirty="0"/>
          </a:p>
        </p:txBody>
      </p:sp>
      <p:sp>
        <p:nvSpPr>
          <p:cNvPr id="3" name="Text 1"/>
          <p:cNvSpPr/>
          <p:nvPr/>
        </p:nvSpPr>
        <p:spPr>
          <a:xfrm>
            <a:off x="609600" y="1371600"/>
            <a:ext cx="8083296" cy="4114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Method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914400" y="1935482"/>
            <a:ext cx="7620000" cy="20002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Magimix: Blend plantain chunks · Speed 8, 20 sec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Add eggs, milk, vanilla · Speed 6, 10 sec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Mix dry ingredients separately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Combine wet &amp; dry · Speed 4, 15 sec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Cook pancakes on induction griddle (setting 6)</a:t>
            </a:r>
            <a:endParaRPr lang="en-US" sz="1350" dirty="0"/>
          </a:p>
        </p:txBody>
      </p:sp>
      <p:pic>
        <p:nvPicPr>
          <p:cNvPr id="9" name="Picture 8" descr="177341291879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" y="86995"/>
            <a:ext cx="624205" cy="624205"/>
          </a:xfrm>
          <a:prstGeom prst="rect">
            <a:avLst/>
          </a:prstGeom>
        </p:spPr>
      </p:pic>
      <p:pic>
        <p:nvPicPr>
          <p:cNvPr id="5" name="Picture 4" descr="177341291879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89570" y="4088130"/>
            <a:ext cx="624205" cy="62420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04875" y="142875"/>
            <a:ext cx="1160517" cy="16835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ts val="1325"/>
              </a:lnSpc>
              <a:buNone/>
            </a:pPr>
            <a:r>
              <a:rPr lang="en-US" sz="1020" b="1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Plantain Pancakes</a:t>
            </a:r>
            <a:endParaRPr lang="en-US" sz="1020" dirty="0"/>
          </a:p>
        </p:txBody>
      </p:sp>
      <p:sp>
        <p:nvSpPr>
          <p:cNvPr id="3" name="Text 1"/>
          <p:cNvSpPr/>
          <p:nvPr/>
        </p:nvSpPr>
        <p:spPr>
          <a:xfrm>
            <a:off x="609600" y="1371600"/>
            <a:ext cx="8083296" cy="4114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Nutrition &amp; Carbon Savings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09600" y="1935482"/>
            <a:ext cx="8083296" cy="24003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Per 3 Pancakes:</a:t>
            </a:r>
            <a:r>
              <a:rPr lang="en-US" sz="1350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385 kcal · 11g protein · 68g carbs · 8g fat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09600" y="2327909"/>
            <a:ext cx="8083296" cy="24003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Allergens:</a:t>
            </a:r>
            <a:r>
              <a:rPr lang="en-US" sz="1350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Gluten, Egg, Milk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09600" y="2720341"/>
            <a:ext cx="8083296" cy="2667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8BDF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Carbon Savings:</a:t>
            </a:r>
            <a:r>
              <a:rPr lang="en-US" sz="1500" dirty="0">
                <a:solidFill>
                  <a:srgbClr val="38BDF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0.55 kg CO₂ per serving (gas) → 0.53 kg CO₂ (Smart-Prep)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09600" y="2987041"/>
            <a:ext cx="8083296" cy="24003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ts val="1890"/>
              </a:lnSpc>
              <a:buNone/>
            </a:pPr>
            <a:r>
              <a:rPr lang="en-US" sz="1350" dirty="0">
                <a:solidFill>
                  <a:srgbClr val="10B98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Saving: 0.02 kg CO₂ (3.5%)</a:t>
            </a:r>
            <a:endParaRPr lang="en-US" sz="1350" dirty="0"/>
          </a:p>
        </p:txBody>
      </p:sp>
      <p:pic>
        <p:nvPicPr>
          <p:cNvPr id="9" name="Picture 8" descr="177341291879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" y="86995"/>
            <a:ext cx="624205" cy="624205"/>
          </a:xfrm>
          <a:prstGeom prst="rect">
            <a:avLst/>
          </a:prstGeom>
        </p:spPr>
      </p:pic>
      <p:pic>
        <p:nvPicPr>
          <p:cNvPr id="8" name="Picture 7" descr="177341291879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14970" y="3924300"/>
            <a:ext cx="624205" cy="62420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785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12839" y="1108709"/>
            <a:ext cx="1918204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32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Recipe 3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09600" y="1809750"/>
            <a:ext cx="7924800" cy="1371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5400"/>
              </a:lnSpc>
              <a:buNone/>
            </a:pPr>
            <a:r>
              <a:rPr lang="en-US" sz="45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Chicken Curry &amp; Coconut Rice</a:t>
            </a:r>
            <a:endParaRPr lang="en-US" sz="4500" dirty="0"/>
          </a:p>
        </p:txBody>
      </p:sp>
      <p:sp>
        <p:nvSpPr>
          <p:cNvPr id="4" name="Text 2"/>
          <p:cNvSpPr/>
          <p:nvPr/>
        </p:nvSpPr>
        <p:spPr>
          <a:xfrm>
            <a:off x="2621613" y="3409950"/>
            <a:ext cx="3900773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2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Serves 6 · Prep 20 min · Cook 35 min</a:t>
            </a:r>
            <a:endParaRPr lang="en-US" sz="1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04875" y="142875"/>
            <a:ext cx="1351183" cy="16835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ts val="1325"/>
              </a:lnSpc>
              <a:buNone/>
            </a:pPr>
            <a:r>
              <a:rPr lang="en-US" sz="1020" b="1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Chicken Curry &amp; Rice</a:t>
            </a:r>
            <a:endParaRPr lang="en-US" sz="1020" dirty="0"/>
          </a:p>
        </p:txBody>
      </p:sp>
      <p:sp>
        <p:nvSpPr>
          <p:cNvPr id="3" name="Text 1"/>
          <p:cNvSpPr/>
          <p:nvPr/>
        </p:nvSpPr>
        <p:spPr>
          <a:xfrm>
            <a:off x="609600" y="1371600"/>
            <a:ext cx="8083296" cy="4114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Ingredients: Curry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914400" y="1935482"/>
            <a:ext cx="7620000" cy="284607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800g chicken thighs, cut into chunks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2 onions, diced · 4 cloves garlic · Ginger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 scotch bonnet · 250g mushrooms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400ml coconut milk · 200ml chicken stock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3 tbsp curry powder · 1 tsp turmeric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2 tbsp tomato paste · 2 stock cubes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3 potatoes, cubed · 2 carrots, sliced</a:t>
            </a:r>
            <a:endParaRPr lang="en-US" sz="1350" dirty="0"/>
          </a:p>
        </p:txBody>
      </p:sp>
      <p:pic>
        <p:nvPicPr>
          <p:cNvPr id="9" name="Picture 8" descr="177341291879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" y="86995"/>
            <a:ext cx="624205" cy="624205"/>
          </a:xfrm>
          <a:prstGeom prst="rect">
            <a:avLst/>
          </a:prstGeom>
        </p:spPr>
      </p:pic>
      <p:pic>
        <p:nvPicPr>
          <p:cNvPr id="5" name="Picture 4" descr="177341291879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68945" y="4157345"/>
            <a:ext cx="624205" cy="624205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04875" y="142875"/>
            <a:ext cx="1351183" cy="16835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ts val="1325"/>
              </a:lnSpc>
              <a:buNone/>
            </a:pPr>
            <a:r>
              <a:rPr lang="en-US" sz="1020" b="1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Chicken Curry &amp; Rice</a:t>
            </a:r>
            <a:endParaRPr lang="en-US" sz="1020" dirty="0"/>
          </a:p>
        </p:txBody>
      </p:sp>
      <p:sp>
        <p:nvSpPr>
          <p:cNvPr id="3" name="Text 1"/>
          <p:cNvSpPr/>
          <p:nvPr/>
        </p:nvSpPr>
        <p:spPr>
          <a:xfrm>
            <a:off x="609600" y="1371600"/>
            <a:ext cx="8083296" cy="4114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Method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914400" y="1935482"/>
            <a:ext cx="7620000" cy="20002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Magimix: Chop onion, garlic, ginger, scotch bonnet · Speed 5, 15 sec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Add oil · 120°C, Speed 1, 6 min to sauté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Add spices, tomato paste · 120°C, 2 min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Add chicken, stock cubes · 120°C, 5 min to seal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Add coconut milk, stock, potatoes, carrots · 90°C, Slow Stir, 25 min</a:t>
            </a:r>
            <a:endParaRPr lang="en-US" sz="1350" dirty="0"/>
          </a:p>
        </p:txBody>
      </p:sp>
      <p:pic>
        <p:nvPicPr>
          <p:cNvPr id="9" name="Picture 8" descr="177341291879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" y="86995"/>
            <a:ext cx="624205" cy="624205"/>
          </a:xfrm>
          <a:prstGeom prst="rect">
            <a:avLst/>
          </a:prstGeom>
        </p:spPr>
      </p:pic>
      <p:pic>
        <p:nvPicPr>
          <p:cNvPr id="5" name="Picture 4" descr="177341291879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89570" y="4182110"/>
            <a:ext cx="624205" cy="624205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04875" y="142875"/>
            <a:ext cx="1351183" cy="16835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ts val="1325"/>
              </a:lnSpc>
              <a:buNone/>
            </a:pPr>
            <a:r>
              <a:rPr lang="en-US" sz="1020" b="1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Chicken Curry &amp; Rice</a:t>
            </a:r>
            <a:endParaRPr lang="en-US" sz="1020" dirty="0"/>
          </a:p>
        </p:txBody>
      </p:sp>
      <p:sp>
        <p:nvSpPr>
          <p:cNvPr id="3" name="Text 1"/>
          <p:cNvSpPr/>
          <p:nvPr/>
        </p:nvSpPr>
        <p:spPr>
          <a:xfrm>
            <a:off x="609600" y="1371600"/>
            <a:ext cx="8083296" cy="4114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Nutrition &amp; Carbon Savings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09600" y="1935482"/>
            <a:ext cx="8083296" cy="24003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Per Serving:</a:t>
            </a:r>
            <a:r>
              <a:rPr lang="en-US" sz="1350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625 kcal · 38g protein · 72g carbs · 22g fat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09600" y="2327914"/>
            <a:ext cx="8083296" cy="24003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Allergens:</a:t>
            </a:r>
            <a:r>
              <a:rPr lang="en-US" sz="1350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None (gluten-free, dairy-free)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09600" y="2720346"/>
            <a:ext cx="8083296" cy="2667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8BDF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Carbon Savings:</a:t>
            </a:r>
            <a:r>
              <a:rPr lang="en-US" sz="1500" dirty="0">
                <a:solidFill>
                  <a:srgbClr val="38BDF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1.39 kg CO₂ per serving (gas) → 1.35 kg CO₂ (Smart-Prep)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09600" y="2987046"/>
            <a:ext cx="8083296" cy="24003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ts val="1890"/>
              </a:lnSpc>
              <a:buNone/>
            </a:pPr>
            <a:r>
              <a:rPr lang="en-US" sz="1350" dirty="0">
                <a:solidFill>
                  <a:srgbClr val="10B98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Saving: 0.04 kg CO₂ (2.9%)</a:t>
            </a:r>
            <a:endParaRPr lang="en-US" sz="1350" dirty="0"/>
          </a:p>
        </p:txBody>
      </p:sp>
      <p:pic>
        <p:nvPicPr>
          <p:cNvPr id="9" name="Picture 8" descr="177341291879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" y="86995"/>
            <a:ext cx="624205" cy="624205"/>
          </a:xfrm>
          <a:prstGeom prst="rect">
            <a:avLst/>
          </a:prstGeom>
        </p:spPr>
      </p:pic>
      <p:pic>
        <p:nvPicPr>
          <p:cNvPr id="8" name="Picture 7" descr="177341291879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68945" y="4184650"/>
            <a:ext cx="624205" cy="624205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785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12839" y="1451614"/>
            <a:ext cx="1918204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32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Recipe 4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251728" y="2152650"/>
            <a:ext cx="6640544" cy="685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5400"/>
              </a:lnSpc>
              <a:buNone/>
            </a:pPr>
            <a:r>
              <a:rPr lang="en-US" sz="45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West African Jollof Rice</a:t>
            </a:r>
            <a:endParaRPr lang="en-US" sz="4500" dirty="0"/>
          </a:p>
        </p:txBody>
      </p:sp>
      <p:sp>
        <p:nvSpPr>
          <p:cNvPr id="4" name="Text 2"/>
          <p:cNvSpPr/>
          <p:nvPr/>
        </p:nvSpPr>
        <p:spPr>
          <a:xfrm>
            <a:off x="2517902" y="3067050"/>
            <a:ext cx="4108078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2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Serves 6-8 · Prep 20 min · Cook 45 min</a:t>
            </a:r>
            <a:endParaRPr lang="en-US" sz="1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04875" y="142875"/>
            <a:ext cx="668184" cy="16835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ts val="1325"/>
              </a:lnSpc>
              <a:buNone/>
            </a:pPr>
            <a:r>
              <a:rPr lang="en-US" sz="1020" b="1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Jollof Rice</a:t>
            </a:r>
            <a:endParaRPr lang="en-US" sz="1020" dirty="0"/>
          </a:p>
        </p:txBody>
      </p:sp>
      <p:sp>
        <p:nvSpPr>
          <p:cNvPr id="3" name="Text 1"/>
          <p:cNvSpPr/>
          <p:nvPr/>
        </p:nvSpPr>
        <p:spPr>
          <a:xfrm>
            <a:off x="609600" y="1371600"/>
            <a:ext cx="8083296" cy="4114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Ingredients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914400" y="1935482"/>
            <a:ext cx="7620000" cy="284607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600g long-grain rice · 400g tin tomatoes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200g tomato paste · 3 fresh tomatoes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2 red bell peppers · 2 onions (divided)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 scotch bonnet · 6 cloves garlic · Ginger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700ml stock · 4 stock cubes · 100ml oil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2 tbsp curry powder · 1 tbsp thyme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2 tsp smoked paprika · 3 bay leaves</a:t>
            </a:r>
            <a:endParaRPr lang="en-US" sz="1350" dirty="0"/>
          </a:p>
        </p:txBody>
      </p:sp>
      <p:pic>
        <p:nvPicPr>
          <p:cNvPr id="9" name="Picture 8" descr="177341291879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" y="86995"/>
            <a:ext cx="624205" cy="624205"/>
          </a:xfrm>
          <a:prstGeom prst="rect">
            <a:avLst/>
          </a:prstGeom>
        </p:spPr>
      </p:pic>
      <p:pic>
        <p:nvPicPr>
          <p:cNvPr id="5" name="Picture 4" descr="177341291879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64170" y="4241165"/>
            <a:ext cx="624205" cy="624205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04875" y="142875"/>
            <a:ext cx="668184" cy="16835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ts val="1325"/>
              </a:lnSpc>
              <a:buNone/>
            </a:pPr>
            <a:r>
              <a:rPr lang="en-US" sz="1020" b="1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Jollof Rice</a:t>
            </a:r>
            <a:endParaRPr lang="en-US" sz="1020" dirty="0"/>
          </a:p>
        </p:txBody>
      </p:sp>
      <p:sp>
        <p:nvSpPr>
          <p:cNvPr id="3" name="Text 1"/>
          <p:cNvSpPr/>
          <p:nvPr/>
        </p:nvSpPr>
        <p:spPr>
          <a:xfrm>
            <a:off x="609600" y="1371600"/>
            <a:ext cx="8083296" cy="4114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Method (Part 1)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914400" y="1935482"/>
            <a:ext cx="7620000" cy="15773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Magimix: Blend tomatoes, peppers, 1 onion, scotch bonnet, garlic, ginger · Speed 8, 30 sec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Chop 2nd onion · Speed 5, 8 sec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Add oil, onion · 130°C, Speed 1, 5 min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Add tomato paste · 130°C, 3 min</a:t>
            </a:r>
            <a:endParaRPr lang="en-US" sz="1350" dirty="0"/>
          </a:p>
        </p:txBody>
      </p:sp>
      <p:pic>
        <p:nvPicPr>
          <p:cNvPr id="9" name="Picture 8" descr="177341291879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" y="86995"/>
            <a:ext cx="624205" cy="624205"/>
          </a:xfrm>
          <a:prstGeom prst="rect">
            <a:avLst/>
          </a:prstGeom>
        </p:spPr>
      </p:pic>
      <p:pic>
        <p:nvPicPr>
          <p:cNvPr id="5" name="Picture 4" descr="177341291879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81315" y="4081145"/>
            <a:ext cx="624205" cy="624205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04875" y="142875"/>
            <a:ext cx="668184" cy="16835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ts val="1325"/>
              </a:lnSpc>
              <a:buNone/>
            </a:pPr>
            <a:r>
              <a:rPr lang="en-US" sz="1020" b="1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Jollof Rice</a:t>
            </a:r>
            <a:endParaRPr lang="en-US" sz="1020" dirty="0"/>
          </a:p>
        </p:txBody>
      </p:sp>
      <p:sp>
        <p:nvSpPr>
          <p:cNvPr id="3" name="Text 1"/>
          <p:cNvSpPr/>
          <p:nvPr/>
        </p:nvSpPr>
        <p:spPr>
          <a:xfrm>
            <a:off x="609600" y="1371600"/>
            <a:ext cx="8083296" cy="4114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Method (Part 2)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914400" y="1935482"/>
            <a:ext cx="7620000" cy="15773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Add pepper base, spices · 130°C, Speed 1, 20 min (crucial step!)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Add tinned tomatoes, stock, bay leaves, stock cubes · 100°C, 5 min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Add rinsed rice · 100°C, Slow Stir, 25 min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Rest 5 min, fluff &amp; serve</a:t>
            </a:r>
            <a:endParaRPr lang="en-US" sz="1350" dirty="0"/>
          </a:p>
        </p:txBody>
      </p:sp>
      <p:pic>
        <p:nvPicPr>
          <p:cNvPr id="9" name="Picture 8" descr="177341291879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" y="86995"/>
            <a:ext cx="624205" cy="624205"/>
          </a:xfrm>
          <a:prstGeom prst="rect">
            <a:avLst/>
          </a:prstGeom>
        </p:spPr>
      </p:pic>
      <p:pic>
        <p:nvPicPr>
          <p:cNvPr id="5" name="Picture 4" descr="177341291879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89570" y="4199255"/>
            <a:ext cx="624205" cy="624205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04875" y="142875"/>
            <a:ext cx="668184" cy="16835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ts val="1325"/>
              </a:lnSpc>
              <a:buNone/>
            </a:pPr>
            <a:r>
              <a:rPr lang="en-US" sz="1020" b="1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Jollof Rice</a:t>
            </a:r>
            <a:endParaRPr lang="en-US" sz="1020" dirty="0"/>
          </a:p>
        </p:txBody>
      </p:sp>
      <p:sp>
        <p:nvSpPr>
          <p:cNvPr id="3" name="Text 1"/>
          <p:cNvSpPr/>
          <p:nvPr/>
        </p:nvSpPr>
        <p:spPr>
          <a:xfrm>
            <a:off x="609600" y="1371600"/>
            <a:ext cx="8083296" cy="4114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Nutrition &amp; Carbon Savings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09600" y="1935482"/>
            <a:ext cx="8083296" cy="24003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Per Serving:</a:t>
            </a:r>
            <a:r>
              <a:rPr lang="en-US" sz="1350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420 kcal · 8g protein · 68g carbs · 14g fat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09600" y="2327914"/>
            <a:ext cx="8083296" cy="24003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Allergens:</a:t>
            </a:r>
            <a:r>
              <a:rPr lang="en-US" sz="1350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May contain Celery (in stock cubes)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09600" y="2720346"/>
            <a:ext cx="8083296" cy="2667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8BDF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Carbon Savings:</a:t>
            </a:r>
            <a:r>
              <a:rPr lang="en-US" sz="1500" dirty="0">
                <a:solidFill>
                  <a:srgbClr val="38BDF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0.52 kg CO₂ per serving (gas) → 0.50 kg CO₂ (Smart-Prep)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09600" y="2987046"/>
            <a:ext cx="8083296" cy="24003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ts val="1890"/>
              </a:lnSpc>
              <a:buNone/>
            </a:pPr>
            <a:r>
              <a:rPr lang="en-US" sz="1350" dirty="0">
                <a:solidFill>
                  <a:srgbClr val="10B98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Saving: 0.02 kg CO₂ (5.0%)</a:t>
            </a:r>
            <a:endParaRPr lang="en-US" sz="1350" dirty="0"/>
          </a:p>
        </p:txBody>
      </p:sp>
      <p:pic>
        <p:nvPicPr>
          <p:cNvPr id="9" name="Picture 8" descr="177341291879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" y="86995"/>
            <a:ext cx="624205" cy="624205"/>
          </a:xfrm>
          <a:prstGeom prst="rect">
            <a:avLst/>
          </a:prstGeom>
        </p:spPr>
      </p:pic>
      <p:pic>
        <p:nvPicPr>
          <p:cNvPr id="8" name="Picture 7" descr="177341291879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89570" y="4184650"/>
            <a:ext cx="624205" cy="624205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785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12839" y="1451614"/>
            <a:ext cx="1918204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32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Recipe 5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569426" y="2152650"/>
            <a:ext cx="6005029" cy="685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5400"/>
              </a:lnSpc>
              <a:buNone/>
            </a:pPr>
            <a:r>
              <a:rPr lang="en-US" sz="45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Creamy African Pasta</a:t>
            </a:r>
            <a:endParaRPr lang="en-US" sz="4500" dirty="0"/>
          </a:p>
        </p:txBody>
      </p:sp>
      <p:sp>
        <p:nvSpPr>
          <p:cNvPr id="4" name="Text 2"/>
          <p:cNvSpPr/>
          <p:nvPr/>
        </p:nvSpPr>
        <p:spPr>
          <a:xfrm>
            <a:off x="2517902" y="3067050"/>
            <a:ext cx="4108078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2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Serves 4-6 · Prep 15 min · Cook 30 min</a:t>
            </a:r>
            <a:endParaRPr lang="en-US" sz="1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04875" y="142875"/>
            <a:ext cx="1361142" cy="16835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ts val="1325"/>
              </a:lnSpc>
              <a:buNone/>
            </a:pPr>
            <a:r>
              <a:rPr lang="en-US" sz="1020" b="1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Creamy African Pasta</a:t>
            </a:r>
            <a:endParaRPr lang="en-US" sz="1020" dirty="0"/>
          </a:p>
        </p:txBody>
      </p:sp>
      <p:sp>
        <p:nvSpPr>
          <p:cNvPr id="3" name="Text 1"/>
          <p:cNvSpPr/>
          <p:nvPr/>
        </p:nvSpPr>
        <p:spPr>
          <a:xfrm>
            <a:off x="609600" y="1371600"/>
            <a:ext cx="8083296" cy="4114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Ingredients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914400" y="1935482"/>
            <a:ext cx="7620000" cy="284607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400g palm nut cream (or coconut cream)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300g chicken breast, diced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200g spinach, chopped · 1 large onion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4 cloves garlic · 2 scotch bonnet peppers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 red bell pepper · 2 tbsp ground crayfish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400ml chicken stock · 2 stock cubes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450g penne pasta · Fresh parsley</a:t>
            </a:r>
            <a:endParaRPr lang="en-US" sz="13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04875" y="142875"/>
            <a:ext cx="1361142" cy="16835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ts val="1325"/>
              </a:lnSpc>
              <a:buNone/>
            </a:pPr>
            <a:r>
              <a:rPr lang="en-US" sz="1020" b="1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Creamy African Pasta</a:t>
            </a:r>
            <a:endParaRPr lang="en-US" sz="1020" dirty="0"/>
          </a:p>
        </p:txBody>
      </p:sp>
      <p:sp>
        <p:nvSpPr>
          <p:cNvPr id="3" name="Text 1"/>
          <p:cNvSpPr/>
          <p:nvPr/>
        </p:nvSpPr>
        <p:spPr>
          <a:xfrm>
            <a:off x="609600" y="1371600"/>
            <a:ext cx="8083296" cy="4114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Method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914400" y="1935482"/>
            <a:ext cx="7620000" cy="20002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Magimix: Chop onion, garlic, peppers · Speed 5, 12 sec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Add oil · 120°C, Speed 1, 5 min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Add chicken, stock cubes · 120°C, 8 min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Add palm nut cream, stock, crayfish · 90°C, 15 min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Add spinach · 90°C, 3 min · Combine with pasta</a:t>
            </a:r>
            <a:endParaRPr lang="en-US" sz="1350" dirty="0"/>
          </a:p>
        </p:txBody>
      </p:sp>
      <p:pic>
        <p:nvPicPr>
          <p:cNvPr id="9" name="Picture 8" descr="177341291879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" y="86995"/>
            <a:ext cx="624205" cy="624205"/>
          </a:xfrm>
          <a:prstGeom prst="rect">
            <a:avLst/>
          </a:prstGeom>
        </p:spPr>
      </p:pic>
      <p:pic>
        <p:nvPicPr>
          <p:cNvPr id="5" name="Picture 4" descr="177341291879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10195" y="4004945"/>
            <a:ext cx="624205" cy="624205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04875" y="142875"/>
            <a:ext cx="1361142" cy="16835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ts val="1325"/>
              </a:lnSpc>
              <a:buNone/>
            </a:pPr>
            <a:r>
              <a:rPr lang="en-US" sz="1020" b="1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Creamy African Pasta</a:t>
            </a:r>
            <a:endParaRPr lang="en-US" sz="1020" dirty="0"/>
          </a:p>
        </p:txBody>
      </p:sp>
      <p:sp>
        <p:nvSpPr>
          <p:cNvPr id="3" name="Text 1"/>
          <p:cNvSpPr/>
          <p:nvPr/>
        </p:nvSpPr>
        <p:spPr>
          <a:xfrm>
            <a:off x="609600" y="1371600"/>
            <a:ext cx="8083296" cy="4114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Nutrition &amp; Carbon Savings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09600" y="1935482"/>
            <a:ext cx="8083296" cy="24003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Per Serving:</a:t>
            </a:r>
            <a:r>
              <a:rPr lang="en-US" sz="1350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580 kcal · 28g protein · 64g carbs · 24g fat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09600" y="2327914"/>
            <a:ext cx="8083296" cy="24003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Allergens:</a:t>
            </a:r>
            <a:r>
              <a:rPr lang="en-US" sz="1350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Gluten, Fish, Crustaceans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09600" y="2720346"/>
            <a:ext cx="8083296" cy="2667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8BDF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Carbon Savings:</a:t>
            </a:r>
            <a:r>
              <a:rPr lang="en-US" sz="1500" dirty="0">
                <a:solidFill>
                  <a:srgbClr val="38BDF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0.91 kg CO₂ per serving (gas) → 0.88 kg CO₂ (Smart-Prep)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09600" y="2987046"/>
            <a:ext cx="8083296" cy="24003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ts val="1890"/>
              </a:lnSpc>
              <a:buNone/>
            </a:pPr>
            <a:r>
              <a:rPr lang="en-US" sz="1350" dirty="0">
                <a:solidFill>
                  <a:srgbClr val="10B98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Saving: 0.03 kg CO₂ (3.1%)</a:t>
            </a:r>
            <a:endParaRPr lang="en-US" sz="1350" dirty="0"/>
          </a:p>
        </p:txBody>
      </p:sp>
      <p:pic>
        <p:nvPicPr>
          <p:cNvPr id="9" name="Picture 8" descr="177341291879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" y="86995"/>
            <a:ext cx="624205" cy="624205"/>
          </a:xfrm>
          <a:prstGeom prst="rect">
            <a:avLst/>
          </a:prstGeom>
        </p:spPr>
      </p:pic>
      <p:pic>
        <p:nvPicPr>
          <p:cNvPr id="8" name="Picture 7" descr="177341291879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22260" y="4131310"/>
            <a:ext cx="624205" cy="624205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785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12839" y="1451614"/>
            <a:ext cx="1918204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32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Recipe 6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3285" y="2152650"/>
            <a:ext cx="7677431" cy="685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5400"/>
              </a:lnSpc>
              <a:buNone/>
            </a:pPr>
            <a:r>
              <a:rPr lang="en-US" sz="45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Caribbean Mackerel Risotto</a:t>
            </a:r>
            <a:endParaRPr lang="en-US" sz="4500" dirty="0"/>
          </a:p>
        </p:txBody>
      </p:sp>
      <p:sp>
        <p:nvSpPr>
          <p:cNvPr id="4" name="Text 2"/>
          <p:cNvSpPr/>
          <p:nvPr/>
        </p:nvSpPr>
        <p:spPr>
          <a:xfrm>
            <a:off x="2621613" y="3067050"/>
            <a:ext cx="3900773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2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Serves 4 · Prep 10 min · Cook 30 min</a:t>
            </a:r>
            <a:endParaRPr lang="en-US" sz="18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04875" y="142875"/>
            <a:ext cx="1057411" cy="16835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ts val="1325"/>
              </a:lnSpc>
              <a:buNone/>
            </a:pPr>
            <a:r>
              <a:rPr lang="en-US" sz="1020" b="1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Mackerel Risotto</a:t>
            </a:r>
            <a:endParaRPr lang="en-US" sz="1020" dirty="0"/>
          </a:p>
        </p:txBody>
      </p:sp>
      <p:sp>
        <p:nvSpPr>
          <p:cNvPr id="3" name="Text 1"/>
          <p:cNvSpPr/>
          <p:nvPr/>
        </p:nvSpPr>
        <p:spPr>
          <a:xfrm>
            <a:off x="609600" y="1371600"/>
            <a:ext cx="8083296" cy="4114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Ingredients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914400" y="1935482"/>
            <a:ext cx="7620000" cy="284607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300g smoked mackerel fillets, flaked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300g arborio rice · 1 litre fish stock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 large onion · 3 cloves garlic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 red &amp; 1 yellow bell pepper, diced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150ml coconut cream · 100ml white wine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 tsp thyme · 1 tsp smoked paprika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3 spring onions · Juice of 1 lime</a:t>
            </a:r>
            <a:endParaRPr lang="en-US" sz="1350" dirty="0"/>
          </a:p>
        </p:txBody>
      </p:sp>
      <p:pic>
        <p:nvPicPr>
          <p:cNvPr id="9" name="Picture 8" descr="177341291879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" y="86995"/>
            <a:ext cx="624205" cy="624205"/>
          </a:xfrm>
          <a:prstGeom prst="rect">
            <a:avLst/>
          </a:prstGeom>
        </p:spPr>
      </p:pic>
      <p:pic>
        <p:nvPicPr>
          <p:cNvPr id="5" name="Picture 4" descr="177341291879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10195" y="4157345"/>
            <a:ext cx="624205" cy="624205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04875" y="142875"/>
            <a:ext cx="1057411" cy="16835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ts val="1325"/>
              </a:lnSpc>
              <a:buNone/>
            </a:pPr>
            <a:r>
              <a:rPr lang="en-US" sz="1020" b="1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Mackerel Risotto</a:t>
            </a:r>
            <a:endParaRPr lang="en-US" sz="1020" dirty="0"/>
          </a:p>
        </p:txBody>
      </p:sp>
      <p:sp>
        <p:nvSpPr>
          <p:cNvPr id="3" name="Text 1"/>
          <p:cNvSpPr/>
          <p:nvPr/>
        </p:nvSpPr>
        <p:spPr>
          <a:xfrm>
            <a:off x="609600" y="1371600"/>
            <a:ext cx="8083296" cy="4114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Method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914400" y="1935491"/>
            <a:ext cx="7620000" cy="24231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Magimix: Chop onion, garlic · Speed 5, 10 sec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Add oil · 120°C, Speed 1, 4 min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Add rice, thyme, paprika · 120°C, 2 min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Add wine · 100°C, 3 min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Add peppers, stock · 90°C, Slow Stir, 20 min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Add coconut cream, mackerel, lime · Serve</a:t>
            </a:r>
            <a:endParaRPr lang="en-US" sz="1350" dirty="0"/>
          </a:p>
        </p:txBody>
      </p:sp>
      <p:pic>
        <p:nvPicPr>
          <p:cNvPr id="9" name="Picture 8" descr="177341291879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" y="86995"/>
            <a:ext cx="624205" cy="624205"/>
          </a:xfrm>
          <a:prstGeom prst="rect">
            <a:avLst/>
          </a:prstGeom>
        </p:spPr>
      </p:pic>
      <p:pic>
        <p:nvPicPr>
          <p:cNvPr id="5" name="Picture 4" descr="177341291879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10195" y="4131310"/>
            <a:ext cx="624205" cy="624205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04875" y="142875"/>
            <a:ext cx="1057411" cy="16835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ts val="1325"/>
              </a:lnSpc>
              <a:buNone/>
            </a:pPr>
            <a:r>
              <a:rPr lang="en-US" sz="1020" b="1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Mackerel Risotto</a:t>
            </a:r>
            <a:endParaRPr lang="en-US" sz="1020" dirty="0"/>
          </a:p>
        </p:txBody>
      </p:sp>
      <p:sp>
        <p:nvSpPr>
          <p:cNvPr id="3" name="Text 1"/>
          <p:cNvSpPr/>
          <p:nvPr/>
        </p:nvSpPr>
        <p:spPr>
          <a:xfrm>
            <a:off x="609600" y="1371600"/>
            <a:ext cx="8083296" cy="4114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Nutrition &amp; Carbon Savings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09600" y="1935491"/>
            <a:ext cx="8083296" cy="24003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Per Serving:</a:t>
            </a:r>
            <a:r>
              <a:rPr lang="en-US" sz="1350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520 kcal · 26g protein · 62g carbs · 18g fat · High Omega-3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09600" y="2327914"/>
            <a:ext cx="8083296" cy="24003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Allergens:</a:t>
            </a:r>
            <a:r>
              <a:rPr lang="en-US" sz="1350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Fish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09600" y="2720336"/>
            <a:ext cx="8083296" cy="2667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8BDF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Carbon Savings:</a:t>
            </a:r>
            <a:r>
              <a:rPr lang="en-US" sz="1500" dirty="0">
                <a:solidFill>
                  <a:srgbClr val="38BDF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0.72 kg CO₂ per serving (gas) → 0.68 kg CO₂ (Smart-Prep)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09600" y="2987036"/>
            <a:ext cx="8083296" cy="24003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ts val="1890"/>
              </a:lnSpc>
              <a:buNone/>
            </a:pPr>
            <a:r>
              <a:rPr lang="en-US" sz="1350" dirty="0">
                <a:solidFill>
                  <a:srgbClr val="10B98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Saving: 0.04 kg CO₂ (5.4%)</a:t>
            </a:r>
            <a:endParaRPr lang="en-US" sz="1350" dirty="0"/>
          </a:p>
        </p:txBody>
      </p:sp>
      <p:pic>
        <p:nvPicPr>
          <p:cNvPr id="9" name="Picture 8" descr="177341291879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" y="86995"/>
            <a:ext cx="624205" cy="624205"/>
          </a:xfrm>
          <a:prstGeom prst="rect">
            <a:avLst/>
          </a:prstGeom>
        </p:spPr>
      </p:pic>
      <p:pic>
        <p:nvPicPr>
          <p:cNvPr id="8" name="Picture 7" descr="177341291879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89570" y="4184650"/>
            <a:ext cx="624205" cy="624205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785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12839" y="1451614"/>
            <a:ext cx="1918204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32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Recipe 7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543437" y="2152650"/>
            <a:ext cx="6057007" cy="685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5400"/>
              </a:lnSpc>
              <a:buNone/>
            </a:pPr>
            <a:r>
              <a:rPr lang="en-US" sz="45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Goat Stew &amp; Potatoes</a:t>
            </a:r>
            <a:endParaRPr lang="en-US" sz="4500" dirty="0"/>
          </a:p>
        </p:txBody>
      </p:sp>
      <p:sp>
        <p:nvSpPr>
          <p:cNvPr id="4" name="Text 2"/>
          <p:cNvSpPr/>
          <p:nvPr/>
        </p:nvSpPr>
        <p:spPr>
          <a:xfrm>
            <a:off x="2582631" y="3067050"/>
            <a:ext cx="3978619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2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Serves 6 · Prep 25 min · Cook 2 hours</a:t>
            </a:r>
            <a:endParaRPr lang="en-US" sz="18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04875" y="142875"/>
            <a:ext cx="1372922" cy="16835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ts val="1325"/>
              </a:lnSpc>
              <a:buNone/>
            </a:pPr>
            <a:r>
              <a:rPr lang="en-US" sz="1020" b="1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Goat Stew &amp; Potatoes</a:t>
            </a:r>
            <a:endParaRPr lang="en-US" sz="1020" dirty="0"/>
          </a:p>
        </p:txBody>
      </p:sp>
      <p:sp>
        <p:nvSpPr>
          <p:cNvPr id="3" name="Text 1"/>
          <p:cNvSpPr/>
          <p:nvPr/>
        </p:nvSpPr>
        <p:spPr>
          <a:xfrm>
            <a:off x="609600" y="1371600"/>
            <a:ext cx="8083296" cy="4114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Ingredients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914400" y="1935491"/>
            <a:ext cx="7620000" cy="284607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1kg goat meat (or lamb), chunks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2 large onions · 6 cloves garlic · Ginger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2 scotch bonnet peppers (whole)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400g tin tomatoes · 3 tbsp tomato paste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2 tbsp curry powder · 1 tbsp cumin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600ml stock · 2 bay leaves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800g potatoes · 3 carrots · Bell peppers</a:t>
            </a:r>
            <a:endParaRPr lang="en-US" sz="1350" dirty="0"/>
          </a:p>
        </p:txBody>
      </p:sp>
      <p:pic>
        <p:nvPicPr>
          <p:cNvPr id="9" name="Picture 8" descr="177341291879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" y="86995"/>
            <a:ext cx="624205" cy="624205"/>
          </a:xfrm>
          <a:prstGeom prst="rect">
            <a:avLst/>
          </a:prstGeom>
        </p:spPr>
      </p:pic>
      <p:pic>
        <p:nvPicPr>
          <p:cNvPr id="5" name="Picture 4" descr="177341291879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10195" y="4089400"/>
            <a:ext cx="624205" cy="624205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04875" y="142875"/>
            <a:ext cx="1372922" cy="16835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ts val="1325"/>
              </a:lnSpc>
              <a:buNone/>
            </a:pPr>
            <a:r>
              <a:rPr lang="en-US" sz="1020" b="1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Goat Stew &amp; Potatoes</a:t>
            </a:r>
            <a:endParaRPr lang="en-US" sz="1020" dirty="0"/>
          </a:p>
        </p:txBody>
      </p:sp>
      <p:sp>
        <p:nvSpPr>
          <p:cNvPr id="3" name="Text 1"/>
          <p:cNvSpPr/>
          <p:nvPr/>
        </p:nvSpPr>
        <p:spPr>
          <a:xfrm>
            <a:off x="609600" y="1371600"/>
            <a:ext cx="8083296" cy="4114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Method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914400" y="1935491"/>
            <a:ext cx="7620000" cy="24231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Magimix: Chop onions, garlic, ginger · Speed 5, 15 sec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Add oil · 130°C, Speed 1, 6 min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Add goat · 130°C, 10 min to brown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Add spices, tomato paste · 120°C, 3 min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Add tomatoes, stock, bay leaves · 90°C, Slow Stir, 90 min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Add vegetables · 90°C, 20 min</a:t>
            </a:r>
            <a:endParaRPr lang="en-US" sz="1350" dirty="0"/>
          </a:p>
        </p:txBody>
      </p:sp>
      <p:pic>
        <p:nvPicPr>
          <p:cNvPr id="9" name="Picture 8" descr="177341291879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" y="86995"/>
            <a:ext cx="624205" cy="624205"/>
          </a:xfrm>
          <a:prstGeom prst="rect">
            <a:avLst/>
          </a:prstGeom>
        </p:spPr>
      </p:pic>
      <p:pic>
        <p:nvPicPr>
          <p:cNvPr id="5" name="Picture 4" descr="177341291879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68945" y="4055745"/>
            <a:ext cx="624205" cy="624205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04875" y="142875"/>
            <a:ext cx="1372922" cy="16835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ts val="1325"/>
              </a:lnSpc>
              <a:buNone/>
            </a:pPr>
            <a:r>
              <a:rPr lang="en-US" sz="1020" b="1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Goat Stew &amp; Potatoes</a:t>
            </a:r>
            <a:endParaRPr lang="en-US" sz="1020" dirty="0"/>
          </a:p>
        </p:txBody>
      </p:sp>
      <p:sp>
        <p:nvSpPr>
          <p:cNvPr id="3" name="Text 1"/>
          <p:cNvSpPr/>
          <p:nvPr/>
        </p:nvSpPr>
        <p:spPr>
          <a:xfrm>
            <a:off x="609600" y="1371600"/>
            <a:ext cx="8083296" cy="4114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Nutrition &amp; Carbon Savings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09600" y="1935491"/>
            <a:ext cx="8083296" cy="24003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Per Serving:</a:t>
            </a:r>
            <a:r>
              <a:rPr lang="en-US" sz="1350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485 kcal · 42g protein · 38g carbs · 18g fat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09600" y="2327914"/>
            <a:ext cx="8083296" cy="24003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Allergens:</a:t>
            </a:r>
            <a:r>
              <a:rPr lang="en-US" sz="1350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None (gluten-free, dairy-free)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09600" y="2720336"/>
            <a:ext cx="8083296" cy="2667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8BDF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Carbon Savings:</a:t>
            </a:r>
            <a:r>
              <a:rPr lang="en-US" sz="1500" dirty="0">
                <a:solidFill>
                  <a:srgbClr val="38BDF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4.97 kg CO₂ per serving (gas) → 4.91 kg CO₂ (Smart-Prep)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09600" y="2987036"/>
            <a:ext cx="8083296" cy="24003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ts val="1890"/>
              </a:lnSpc>
              <a:buNone/>
            </a:pPr>
            <a:r>
              <a:rPr lang="en-US" sz="1350" dirty="0">
                <a:solidFill>
                  <a:srgbClr val="10B98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Saving: 0.06 kg CO₂ (1.1%)</a:t>
            </a:r>
            <a:endParaRPr lang="en-US" sz="135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785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12839" y="1451614"/>
            <a:ext cx="1918204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32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Recipe 8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656380" y="2152650"/>
            <a:ext cx="5831122" cy="685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5400"/>
              </a:lnSpc>
              <a:buNone/>
            </a:pPr>
            <a:r>
              <a:rPr lang="en-US" sz="45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Caribbean Fried Rice</a:t>
            </a:r>
            <a:endParaRPr lang="en-US" sz="4500" dirty="0"/>
          </a:p>
        </p:txBody>
      </p:sp>
      <p:sp>
        <p:nvSpPr>
          <p:cNvPr id="4" name="Text 2"/>
          <p:cNvSpPr/>
          <p:nvPr/>
        </p:nvSpPr>
        <p:spPr>
          <a:xfrm>
            <a:off x="2517902" y="3067050"/>
            <a:ext cx="4108078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2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Serves 4-6 · Prep 20 min · Cook 25 min</a:t>
            </a:r>
            <a:endParaRPr lang="en-US" sz="18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04875" y="142875"/>
            <a:ext cx="1321794" cy="16835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ts val="1325"/>
              </a:lnSpc>
              <a:buNone/>
            </a:pPr>
            <a:r>
              <a:rPr lang="en-US" sz="1020" b="1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Caribbean Fried Rice</a:t>
            </a:r>
            <a:endParaRPr lang="en-US" sz="1020" dirty="0"/>
          </a:p>
        </p:txBody>
      </p:sp>
      <p:sp>
        <p:nvSpPr>
          <p:cNvPr id="3" name="Text 1"/>
          <p:cNvSpPr/>
          <p:nvPr/>
        </p:nvSpPr>
        <p:spPr>
          <a:xfrm>
            <a:off x="609600" y="1371600"/>
            <a:ext cx="8083296" cy="4114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Ingredients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914400" y="1935491"/>
            <a:ext cx="7620000" cy="284607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600g cooked rice (day-old, cold)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2 ripe plantains, diced · 3 eggs, beaten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300g protein (chicken/prawns/ham)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 onion · 3 cloves garlic · Bell peppers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150g peas · 100g sweetcorn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3 tbsp soy sauce · 1 tbsp oyster sauce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 tsp curry powder · 4 spring onions</a:t>
            </a:r>
            <a:endParaRPr lang="en-US" sz="1350" dirty="0"/>
          </a:p>
        </p:txBody>
      </p:sp>
      <p:pic>
        <p:nvPicPr>
          <p:cNvPr id="9" name="Picture 8" descr="177341291879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" y="86995"/>
            <a:ext cx="624205" cy="624205"/>
          </a:xfrm>
          <a:prstGeom prst="rect">
            <a:avLst/>
          </a:prstGeom>
        </p:spPr>
      </p:pic>
      <p:pic>
        <p:nvPicPr>
          <p:cNvPr id="5" name="Picture 4" descr="177341291879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89570" y="4055745"/>
            <a:ext cx="624205" cy="624205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04875" y="142875"/>
            <a:ext cx="1321794" cy="16835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ts val="1325"/>
              </a:lnSpc>
              <a:buNone/>
            </a:pPr>
            <a:r>
              <a:rPr lang="en-US" sz="1020" b="1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Caribbean Fried Rice</a:t>
            </a:r>
            <a:endParaRPr lang="en-US" sz="1020" dirty="0"/>
          </a:p>
        </p:txBody>
      </p:sp>
      <p:sp>
        <p:nvSpPr>
          <p:cNvPr id="3" name="Text 1"/>
          <p:cNvSpPr/>
          <p:nvPr/>
        </p:nvSpPr>
        <p:spPr>
          <a:xfrm>
            <a:off x="609600" y="1371600"/>
            <a:ext cx="8083296" cy="4114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Method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914400" y="1935491"/>
            <a:ext cx="7620000" cy="24231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Magimix: Chop vegetables · Speed 4, 8 sec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On induction wok: Fry plantain, set aside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Scramble eggs, set aside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Cook protein with curry, set aside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Stir-fry vegetables, add cold rice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Add soy sauce, combine all ingredients</a:t>
            </a:r>
            <a:endParaRPr lang="en-US" sz="1350" dirty="0"/>
          </a:p>
        </p:txBody>
      </p:sp>
      <p:pic>
        <p:nvPicPr>
          <p:cNvPr id="9" name="Picture 8" descr="177341291879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" y="86995"/>
            <a:ext cx="624205" cy="624205"/>
          </a:xfrm>
          <a:prstGeom prst="rect">
            <a:avLst/>
          </a:prstGeom>
        </p:spPr>
      </p:pic>
      <p:pic>
        <p:nvPicPr>
          <p:cNvPr id="5" name="Picture 4" descr="177341291879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10195" y="3912235"/>
            <a:ext cx="624205" cy="624205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04875" y="142875"/>
            <a:ext cx="1321794" cy="16835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ts val="1325"/>
              </a:lnSpc>
              <a:buNone/>
            </a:pPr>
            <a:r>
              <a:rPr lang="en-US" sz="1020" b="1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Caribbean Fried Rice</a:t>
            </a:r>
            <a:endParaRPr lang="en-US" sz="1020" dirty="0"/>
          </a:p>
        </p:txBody>
      </p:sp>
      <p:sp>
        <p:nvSpPr>
          <p:cNvPr id="3" name="Text 1"/>
          <p:cNvSpPr/>
          <p:nvPr/>
        </p:nvSpPr>
        <p:spPr>
          <a:xfrm>
            <a:off x="609600" y="1371600"/>
            <a:ext cx="8083296" cy="4114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Nutrition &amp; Carbon Savings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09600" y="1935491"/>
            <a:ext cx="8083296" cy="24003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Per Serving:</a:t>
            </a:r>
            <a:r>
              <a:rPr lang="en-US" sz="1350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540 kcal · 24g protein · 72g carbs · 16g fat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09600" y="2327914"/>
            <a:ext cx="8083296" cy="24003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Allergens:</a:t>
            </a:r>
            <a:r>
              <a:rPr lang="en-US" sz="1350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Egg, Soya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09600" y="2720336"/>
            <a:ext cx="8083296" cy="2667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8BDF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Carbon Savings:</a:t>
            </a:r>
            <a:r>
              <a:rPr lang="en-US" sz="1500" dirty="0">
                <a:solidFill>
                  <a:srgbClr val="38BDF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0.82 kg CO₂ per serving (gas) → 0.80 kg CO₂ (Smart-Prep)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09600" y="2987036"/>
            <a:ext cx="8083296" cy="24003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ts val="1890"/>
              </a:lnSpc>
              <a:buNone/>
            </a:pPr>
            <a:r>
              <a:rPr lang="en-US" sz="1350" dirty="0">
                <a:solidFill>
                  <a:srgbClr val="10B98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Saving: 0.02 kg CO₂ (2.7%)</a:t>
            </a:r>
            <a:endParaRPr lang="en-US" sz="135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785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12839" y="1451614"/>
            <a:ext cx="1918204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32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Recipe 9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8872" y="2152650"/>
            <a:ext cx="7666137" cy="685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5400"/>
              </a:lnSpc>
              <a:buNone/>
            </a:pPr>
            <a:r>
              <a:rPr lang="en-US" sz="45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Pounded Yam &amp; Lamb Stew</a:t>
            </a:r>
            <a:endParaRPr lang="en-US" sz="4500" dirty="0"/>
          </a:p>
        </p:txBody>
      </p:sp>
      <p:sp>
        <p:nvSpPr>
          <p:cNvPr id="4" name="Text 2"/>
          <p:cNvSpPr/>
          <p:nvPr/>
        </p:nvSpPr>
        <p:spPr>
          <a:xfrm>
            <a:off x="2517902" y="3067050"/>
            <a:ext cx="4108078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2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Serves 4-6 · Prep 20 min · Cook 90 min</a:t>
            </a:r>
            <a:endParaRPr lang="en-US" sz="18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04875" y="142875"/>
            <a:ext cx="1737739" cy="16835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ts val="1325"/>
              </a:lnSpc>
              <a:buNone/>
            </a:pPr>
            <a:r>
              <a:rPr lang="en-US" sz="1020" b="1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Pounded Yam &amp; Lamb Stew</a:t>
            </a:r>
            <a:endParaRPr lang="en-US" sz="1020" dirty="0"/>
          </a:p>
        </p:txBody>
      </p:sp>
      <p:sp>
        <p:nvSpPr>
          <p:cNvPr id="3" name="Text 1"/>
          <p:cNvSpPr/>
          <p:nvPr/>
        </p:nvSpPr>
        <p:spPr>
          <a:xfrm>
            <a:off x="609600" y="1371600"/>
            <a:ext cx="8083296" cy="4114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Ingredients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914400" y="1935491"/>
            <a:ext cx="7620000" cy="284607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800g lamb, chunks · 400g spinach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1kg yam (or 500g instant yam flour)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2 onions · 6 cloves garlic · Ginger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400g tin tomatoes · 3 tbsp tomato paste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2 scotch bonnet · 1 red bell pepper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3 tbsp ground crayfish · 2 tbsp palm oil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500ml stock · 2 stock cubes</a:t>
            </a:r>
            <a:endParaRPr lang="en-US" sz="1350" dirty="0"/>
          </a:p>
        </p:txBody>
      </p:sp>
      <p:pic>
        <p:nvPicPr>
          <p:cNvPr id="9" name="Picture 8" descr="177341291879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" y="86995"/>
            <a:ext cx="624205" cy="624205"/>
          </a:xfrm>
          <a:prstGeom prst="rect">
            <a:avLst/>
          </a:prstGeom>
        </p:spPr>
      </p:pic>
      <p:pic>
        <p:nvPicPr>
          <p:cNvPr id="5" name="Picture 4" descr="177341291879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12405" y="4004945"/>
            <a:ext cx="624205" cy="624205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04875" y="142875"/>
            <a:ext cx="1737739" cy="16835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ts val="1325"/>
              </a:lnSpc>
              <a:buNone/>
            </a:pPr>
            <a:r>
              <a:rPr lang="en-US" sz="1020" b="1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Pounded Yam &amp; Lamb Stew</a:t>
            </a:r>
            <a:endParaRPr lang="en-US" sz="1020" dirty="0"/>
          </a:p>
        </p:txBody>
      </p:sp>
      <p:sp>
        <p:nvSpPr>
          <p:cNvPr id="3" name="Text 1"/>
          <p:cNvSpPr/>
          <p:nvPr/>
        </p:nvSpPr>
        <p:spPr>
          <a:xfrm>
            <a:off x="609600" y="1371600"/>
            <a:ext cx="8083296" cy="4114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Method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914400" y="1935491"/>
            <a:ext cx="7620000" cy="20002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Magimix: Chop onions, garlic, ginger · Speed 5, 15 sec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Add oil · 130°C, 6 min · Brown lamb · 130°C, 10 min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Add spices, tomatoes, stock, stock cubes · 95°C, Slow Stir, 60 min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Add spinach · 90°C, 10 min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Boil yam, pound in Magimix with dough blade</a:t>
            </a:r>
            <a:endParaRPr lang="en-US" sz="1350" dirty="0"/>
          </a:p>
        </p:txBody>
      </p:sp>
      <p:pic>
        <p:nvPicPr>
          <p:cNvPr id="9" name="Picture 8" descr="177341291879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" y="86995"/>
            <a:ext cx="624205" cy="624205"/>
          </a:xfrm>
          <a:prstGeom prst="rect">
            <a:avLst/>
          </a:prstGeom>
        </p:spPr>
      </p:pic>
      <p:pic>
        <p:nvPicPr>
          <p:cNvPr id="5" name="Picture 4" descr="177341291879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10195" y="4156710"/>
            <a:ext cx="624205" cy="624205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04875" y="142875"/>
            <a:ext cx="1737739" cy="16835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ts val="1325"/>
              </a:lnSpc>
              <a:buNone/>
            </a:pPr>
            <a:r>
              <a:rPr lang="en-US" sz="1020" b="1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Pounded Yam &amp; Lamb Stew</a:t>
            </a:r>
            <a:endParaRPr lang="en-US" sz="1020" dirty="0"/>
          </a:p>
        </p:txBody>
      </p:sp>
      <p:sp>
        <p:nvSpPr>
          <p:cNvPr id="3" name="Text 1"/>
          <p:cNvSpPr/>
          <p:nvPr/>
        </p:nvSpPr>
        <p:spPr>
          <a:xfrm>
            <a:off x="609600" y="1371600"/>
            <a:ext cx="8083296" cy="4114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Nutrition &amp; Carbon Savings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09600" y="1935491"/>
            <a:ext cx="8083296" cy="24003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Per Serving:</a:t>
            </a:r>
            <a:r>
              <a:rPr lang="en-US" sz="1350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650 kcal · 38g protein · 82g carbs · 20g fat · High iron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09600" y="2327914"/>
            <a:ext cx="8083296" cy="24003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Allergens:</a:t>
            </a:r>
            <a:r>
              <a:rPr lang="en-US" sz="1350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Fish, Crustaceans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09600" y="2720336"/>
            <a:ext cx="8083296" cy="2667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8BDF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Carbon Savings:</a:t>
            </a:r>
            <a:r>
              <a:rPr lang="en-US" sz="1500" dirty="0">
                <a:solidFill>
                  <a:srgbClr val="38BDF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4.38 kg CO₂ per serving (gas) → 4.32 kg CO₂ (Smart-Prep)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09600" y="2987036"/>
            <a:ext cx="8083296" cy="24003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ts val="1890"/>
              </a:lnSpc>
              <a:buNone/>
            </a:pPr>
            <a:r>
              <a:rPr lang="en-US" sz="1350" dirty="0">
                <a:solidFill>
                  <a:srgbClr val="10B98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Saving: 0.05 kg CO₂ (1.2%)</a:t>
            </a:r>
            <a:endParaRPr lang="en-US" sz="1350" dirty="0"/>
          </a:p>
        </p:txBody>
      </p:sp>
      <p:pic>
        <p:nvPicPr>
          <p:cNvPr id="9" name="Picture 8" descr="177341291879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" y="86995"/>
            <a:ext cx="624205" cy="624205"/>
          </a:xfrm>
          <a:prstGeom prst="rect">
            <a:avLst/>
          </a:prstGeom>
        </p:spPr>
      </p:pic>
      <p:pic>
        <p:nvPicPr>
          <p:cNvPr id="8" name="Picture 7" descr="177341291879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64170" y="4057650"/>
            <a:ext cx="624205" cy="624205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785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83136" y="1451614"/>
            <a:ext cx="2177608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32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Recipe 10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2143126" y="2152650"/>
            <a:ext cx="4857629" cy="685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5400"/>
              </a:lnSpc>
              <a:buNone/>
            </a:pPr>
            <a:r>
              <a:rPr lang="en-US" sz="45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Kale Soup &amp; Fufu</a:t>
            </a:r>
            <a:endParaRPr lang="en-US" sz="4500" dirty="0"/>
          </a:p>
        </p:txBody>
      </p:sp>
      <p:sp>
        <p:nvSpPr>
          <p:cNvPr id="4" name="Text 2"/>
          <p:cNvSpPr/>
          <p:nvPr/>
        </p:nvSpPr>
        <p:spPr>
          <a:xfrm>
            <a:off x="2621613" y="3067050"/>
            <a:ext cx="3900773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2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Serves 6 · Prep 25 min · Cook 45 min</a:t>
            </a:r>
            <a:endParaRPr lang="en-US" sz="18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04875" y="142875"/>
            <a:ext cx="1101130" cy="16835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ts val="1325"/>
              </a:lnSpc>
              <a:buNone/>
            </a:pPr>
            <a:r>
              <a:rPr lang="en-US" sz="1020" b="1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Kale Soup &amp; Fufu</a:t>
            </a:r>
            <a:endParaRPr lang="en-US" sz="1020" dirty="0"/>
          </a:p>
        </p:txBody>
      </p:sp>
      <p:sp>
        <p:nvSpPr>
          <p:cNvPr id="3" name="Text 1"/>
          <p:cNvSpPr/>
          <p:nvPr/>
        </p:nvSpPr>
        <p:spPr>
          <a:xfrm>
            <a:off x="609600" y="1371600"/>
            <a:ext cx="8083296" cy="4114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Ingredients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914400" y="1935491"/>
            <a:ext cx="7620000" cy="284607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400g kale · 200g pumpkin leaves (ugu)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400g assorted meat (beef, goat, tripe)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200g stockfish · 150g prawns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 onion · 6 cloves garlic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3 tbsp ground crayfish · 2 scotch bonnet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100ml palm oil · 800ml stock · 3 stock cubes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500g cassava flour (fufu)</a:t>
            </a:r>
            <a:endParaRPr lang="en-US" sz="1350" dirty="0"/>
          </a:p>
        </p:txBody>
      </p:sp>
      <p:pic>
        <p:nvPicPr>
          <p:cNvPr id="9" name="Picture 8" descr="177341291879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" y="86995"/>
            <a:ext cx="624205" cy="624205"/>
          </a:xfrm>
          <a:prstGeom prst="rect">
            <a:avLst/>
          </a:prstGeom>
        </p:spPr>
      </p:pic>
      <p:pic>
        <p:nvPicPr>
          <p:cNvPr id="5" name="Picture 4" descr="177341291879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95260" y="4030345"/>
            <a:ext cx="624205" cy="624205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04875" y="142875"/>
            <a:ext cx="1101130" cy="16835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ts val="1325"/>
              </a:lnSpc>
              <a:buNone/>
            </a:pPr>
            <a:r>
              <a:rPr lang="en-US" sz="1020" b="1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Kale Soup &amp; Fufu</a:t>
            </a:r>
            <a:endParaRPr lang="en-US" sz="1020" dirty="0"/>
          </a:p>
        </p:txBody>
      </p:sp>
      <p:sp>
        <p:nvSpPr>
          <p:cNvPr id="3" name="Text 1"/>
          <p:cNvSpPr/>
          <p:nvPr/>
        </p:nvSpPr>
        <p:spPr>
          <a:xfrm>
            <a:off x="609600" y="1371600"/>
            <a:ext cx="8083296" cy="4114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Method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914400" y="1935491"/>
            <a:ext cx="7620000" cy="24231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Cook meat &amp; stockfish separately, reserve stock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Magimix: Chop onion, garlic · Speed 5, 10 sec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Add palm oil · 120°C, 4 min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Add meat, prawns, crayfish, stock, stock cubes · 95°C, 20 min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Add chopped greens · 90°C, Slow Stir, 10 min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Prepare fufu with dough blade</a:t>
            </a:r>
            <a:endParaRPr lang="en-US" sz="1350" dirty="0"/>
          </a:p>
        </p:txBody>
      </p:sp>
      <p:pic>
        <p:nvPicPr>
          <p:cNvPr id="9" name="Picture 8" descr="177341291879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" y="86995"/>
            <a:ext cx="624205" cy="624205"/>
          </a:xfrm>
          <a:prstGeom prst="rect">
            <a:avLst/>
          </a:prstGeom>
        </p:spPr>
      </p:pic>
      <p:pic>
        <p:nvPicPr>
          <p:cNvPr id="5" name="Picture 4" descr="177341291879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68945" y="4022090"/>
            <a:ext cx="624205" cy="624205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04875" y="142875"/>
            <a:ext cx="1101130" cy="16835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ts val="1325"/>
              </a:lnSpc>
              <a:buNone/>
            </a:pPr>
            <a:r>
              <a:rPr lang="en-US" sz="1020" b="1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Kale Soup &amp; Fufu</a:t>
            </a:r>
            <a:endParaRPr lang="en-US" sz="1020" dirty="0"/>
          </a:p>
        </p:txBody>
      </p:sp>
      <p:sp>
        <p:nvSpPr>
          <p:cNvPr id="3" name="Text 1"/>
          <p:cNvSpPr/>
          <p:nvPr/>
        </p:nvSpPr>
        <p:spPr>
          <a:xfrm>
            <a:off x="609600" y="1371600"/>
            <a:ext cx="8083296" cy="4114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Nutrition &amp; Carbon Savings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09600" y="1935491"/>
            <a:ext cx="8083296" cy="24003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Per Serving:</a:t>
            </a:r>
            <a:r>
              <a:rPr lang="en-US" sz="1350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580 kcal · 35g protein · 65g carbs · 22g fat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09600" y="2327914"/>
            <a:ext cx="8083296" cy="24003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Allergens:</a:t>
            </a:r>
            <a:r>
              <a:rPr lang="en-US" sz="1350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Fish, Crustaceans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09600" y="2720336"/>
            <a:ext cx="8083296" cy="2667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8BDF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Carbon Savings:</a:t>
            </a:r>
            <a:r>
              <a:rPr lang="en-US" sz="1500" dirty="0">
                <a:solidFill>
                  <a:srgbClr val="38BDF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2.78 kg CO₂ per serving (gas) → 2.74 kg CO₂ (Smart-Prep)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09600" y="2987036"/>
            <a:ext cx="8083296" cy="24003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ts val="1890"/>
              </a:lnSpc>
              <a:buNone/>
            </a:pPr>
            <a:r>
              <a:rPr lang="en-US" sz="1350" dirty="0">
                <a:solidFill>
                  <a:srgbClr val="10B98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Saving: 0.04 kg CO₂ (1.4%)</a:t>
            </a:r>
            <a:endParaRPr lang="en-US" sz="1350" dirty="0"/>
          </a:p>
        </p:txBody>
      </p:sp>
      <p:pic>
        <p:nvPicPr>
          <p:cNvPr id="9" name="Picture 8" descr="177341291879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" y="86995"/>
            <a:ext cx="624205" cy="624205"/>
          </a:xfrm>
          <a:prstGeom prst="rect">
            <a:avLst/>
          </a:prstGeom>
        </p:spPr>
      </p:pic>
      <p:pic>
        <p:nvPicPr>
          <p:cNvPr id="8" name="Picture 7" descr="177341291879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68945" y="4184650"/>
            <a:ext cx="624205" cy="624205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785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96010" y="1451614"/>
            <a:ext cx="2151862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32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Recipe 11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2515472" y="2152650"/>
            <a:ext cx="4113057" cy="685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5400"/>
              </a:lnSpc>
              <a:buNone/>
            </a:pPr>
            <a:r>
              <a:rPr lang="en-US" sz="45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Potato Pottage</a:t>
            </a:r>
            <a:endParaRPr lang="en-US" sz="4500" dirty="0"/>
          </a:p>
        </p:txBody>
      </p:sp>
      <p:sp>
        <p:nvSpPr>
          <p:cNvPr id="4" name="Text 2"/>
          <p:cNvSpPr/>
          <p:nvPr/>
        </p:nvSpPr>
        <p:spPr>
          <a:xfrm>
            <a:off x="2621613" y="3067050"/>
            <a:ext cx="3900773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2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Serves 5 · Prep 20 min · Cook 35 min</a:t>
            </a:r>
            <a:endParaRPr lang="en-US" sz="18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04875" y="142875"/>
            <a:ext cx="932324" cy="16835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ts val="1325"/>
              </a:lnSpc>
              <a:buNone/>
            </a:pPr>
            <a:r>
              <a:rPr lang="en-US" sz="1020" b="1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Potato Pottage</a:t>
            </a:r>
            <a:endParaRPr lang="en-US" sz="1020" dirty="0"/>
          </a:p>
        </p:txBody>
      </p:sp>
      <p:sp>
        <p:nvSpPr>
          <p:cNvPr id="3" name="Text 1"/>
          <p:cNvSpPr/>
          <p:nvPr/>
        </p:nvSpPr>
        <p:spPr>
          <a:xfrm>
            <a:off x="609600" y="1371600"/>
            <a:ext cx="8083296" cy="4114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Ingredients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914400" y="1935491"/>
            <a:ext cx="7620000" cy="284607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1kg potatoes, cubed · 300g spinach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400g smoked fish or beef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2 onions · 5 cloves garlic · Ginger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2 scotch bonnet · 1 red bell pepper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3 tbsp tomato paste · 3 tbsp palm oil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600ml stock · 2 stock cubes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 tsp thyme · 1 tsp curry powder</a:t>
            </a:r>
            <a:endParaRPr lang="en-US" sz="1350" dirty="0"/>
          </a:p>
        </p:txBody>
      </p:sp>
      <p:pic>
        <p:nvPicPr>
          <p:cNvPr id="9" name="Picture 8" descr="177341291879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" y="86995"/>
            <a:ext cx="624205" cy="624205"/>
          </a:xfrm>
          <a:prstGeom prst="rect">
            <a:avLst/>
          </a:prstGeom>
        </p:spPr>
      </p:pic>
      <p:pic>
        <p:nvPicPr>
          <p:cNvPr id="5" name="Picture 4" descr="177341291879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34680" y="3937635"/>
            <a:ext cx="624205" cy="624205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04875" y="142875"/>
            <a:ext cx="932324" cy="16835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ts val="1325"/>
              </a:lnSpc>
              <a:buNone/>
            </a:pPr>
            <a:r>
              <a:rPr lang="en-US" sz="1020" b="1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Potato Pottage</a:t>
            </a:r>
            <a:endParaRPr lang="en-US" sz="1020" dirty="0"/>
          </a:p>
        </p:txBody>
      </p:sp>
      <p:sp>
        <p:nvSpPr>
          <p:cNvPr id="3" name="Text 1"/>
          <p:cNvSpPr/>
          <p:nvPr/>
        </p:nvSpPr>
        <p:spPr>
          <a:xfrm>
            <a:off x="609600" y="1371600"/>
            <a:ext cx="8083296" cy="4114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Method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914400" y="1935491"/>
            <a:ext cx="7620000" cy="20002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Magimix: Chop onions, garlic, ginger, peppers · Speed 5, 15 sec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Add palm oil · 120°C, Speed 1, 5 min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Add tomato paste, spices, stock cubes · 120°C, 2 min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Add potatoes, fish/beef, stock · 100°C, Slow Stir, 25 min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Add spinach · 90°C, 5 min · Serve hot</a:t>
            </a:r>
            <a:endParaRPr lang="en-US" sz="1350" dirty="0"/>
          </a:p>
        </p:txBody>
      </p:sp>
      <p:pic>
        <p:nvPicPr>
          <p:cNvPr id="9" name="Picture 8" descr="177341291879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" y="86995"/>
            <a:ext cx="624205" cy="624205"/>
          </a:xfrm>
          <a:prstGeom prst="rect">
            <a:avLst/>
          </a:prstGeom>
        </p:spPr>
      </p:pic>
      <p:pic>
        <p:nvPicPr>
          <p:cNvPr id="5" name="Picture 4" descr="177341291879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64170" y="4022090"/>
            <a:ext cx="624205" cy="624205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04875" y="142875"/>
            <a:ext cx="932324" cy="16835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ts val="1325"/>
              </a:lnSpc>
              <a:buNone/>
            </a:pPr>
            <a:r>
              <a:rPr lang="en-US" sz="1020" b="1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Potato Pottage</a:t>
            </a:r>
            <a:endParaRPr lang="en-US" sz="1020" dirty="0"/>
          </a:p>
        </p:txBody>
      </p:sp>
      <p:sp>
        <p:nvSpPr>
          <p:cNvPr id="3" name="Text 1"/>
          <p:cNvSpPr/>
          <p:nvPr/>
        </p:nvSpPr>
        <p:spPr>
          <a:xfrm>
            <a:off x="609600" y="1371600"/>
            <a:ext cx="8083296" cy="4114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Nutrition &amp; Carbon Savings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09600" y="1935491"/>
            <a:ext cx="8083296" cy="24003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Per Serving:</a:t>
            </a:r>
            <a:r>
              <a:rPr lang="en-US" sz="1350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420 kcal · 28g protein · 52g carbs · 12g fat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09600" y="2327914"/>
            <a:ext cx="8083296" cy="24003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Allergens:</a:t>
            </a:r>
            <a:r>
              <a:rPr lang="en-US" sz="1350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Fish (if using smoked fish)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09600" y="2720336"/>
            <a:ext cx="8083296" cy="2667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8BDF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Carbon Savings:</a:t>
            </a:r>
            <a:r>
              <a:rPr lang="en-US" sz="1500" dirty="0">
                <a:solidFill>
                  <a:srgbClr val="38BDF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2.35 kg CO₂ per serving (gas) → 2.31 kg CO₂ (Smart-Prep)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09600" y="2987036"/>
            <a:ext cx="8083296" cy="24003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ts val="1890"/>
              </a:lnSpc>
              <a:buNone/>
            </a:pPr>
            <a:r>
              <a:rPr lang="en-US" sz="1350" dirty="0">
                <a:solidFill>
                  <a:srgbClr val="10B98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Saving: 0.04 kg CO₂ (1.7%)</a:t>
            </a:r>
            <a:endParaRPr lang="en-US" sz="1350" dirty="0"/>
          </a:p>
        </p:txBody>
      </p:sp>
      <p:pic>
        <p:nvPicPr>
          <p:cNvPr id="9" name="Picture 8" descr="177341291879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" y="86995"/>
            <a:ext cx="624205" cy="624205"/>
          </a:xfrm>
          <a:prstGeom prst="rect">
            <a:avLst/>
          </a:prstGeom>
        </p:spPr>
      </p:pic>
      <p:pic>
        <p:nvPicPr>
          <p:cNvPr id="8" name="Picture 7" descr="177341291879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68945" y="4038600"/>
            <a:ext cx="624205" cy="624205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785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395487" y="1051564"/>
            <a:ext cx="4352908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32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Your Annual Impact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2401315" y="1905000"/>
            <a:ext cx="4341371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2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If you cook 5 Smart-Prep meals per week: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2355652" y="2377436"/>
            <a:ext cx="4737497" cy="12573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SzPct val="100000"/>
              <a:buNone/>
            </a:pPr>
            <a:r>
              <a:rPr lang="en-US" sz="15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101.7 kg CO₂ reduced</a:t>
            </a:r>
            <a:r>
              <a:rPr lang="en-US" sz="150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(annual cooking energy savings)</a:t>
            </a:r>
            <a:endParaRPr lang="en-US" sz="1500" dirty="0"/>
          </a:p>
          <a:p>
            <a:pPr marL="0" indent="0" algn="l">
              <a:lnSpc>
                <a:spcPts val="2700"/>
              </a:lnSpc>
              <a:buSzPct val="100000"/>
              <a:buNone/>
            </a:pPr>
            <a:r>
              <a:rPr lang="en-US" sz="15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£780–£1,300 saved</a:t>
            </a:r>
            <a:r>
              <a:rPr lang="en-US" sz="150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on energy bills</a:t>
            </a:r>
            <a:endParaRPr lang="en-US" sz="1500" dirty="0"/>
          </a:p>
          <a:p>
            <a:pPr marL="0" indent="0" algn="l">
              <a:lnSpc>
                <a:spcPts val="2700"/>
              </a:lnSpc>
              <a:buSzPct val="100000"/>
              <a:buNone/>
            </a:pPr>
            <a:r>
              <a:rPr lang="en-US" sz="15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65 hours saved</a:t>
            </a:r>
            <a:r>
              <a:rPr lang="en-US" sz="150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in cooking time</a:t>
            </a:r>
            <a:endParaRPr lang="en-US" sz="15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24044" y="1280164"/>
            <a:ext cx="2495912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320"/>
              </a:lnSpc>
              <a:buNone/>
            </a:pPr>
            <a:r>
              <a:rPr lang="en-US" sz="3600" b="1" dirty="0">
                <a:solidFill>
                  <a:srgbClr val="38BDF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Thank You!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2826005" y="2057400"/>
            <a:ext cx="3491872" cy="2667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Welcome to the Green Africa Hub family.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637070" y="2476500"/>
            <a:ext cx="5869741" cy="24003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9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Let's cook sustainably, eat authentically, and build a greener future together.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1299457" y="2868941"/>
            <a:ext cx="6544968" cy="2133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Green Africa Hub Ltd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299457" y="3082286"/>
            <a:ext cx="6544968" cy="18669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Company Number: 17107299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1299457" y="3268991"/>
            <a:ext cx="6544968" cy="18669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greenafricahub.co.uk · gracetuase@gmail.com · +44 7776 643169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1299457" y="3608077"/>
            <a:ext cx="6544968" cy="18669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© 2026 Green Africa Hub Ltd. All Rights Reserved.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1363623" y="3794764"/>
            <a:ext cx="6416636" cy="3733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Smart-Prep methodology, recipes, and AI carbon tracking dashboard are proprietary to Green Africa Hub Ltd.</a:t>
            </a:r>
            <a:endParaRPr lang="en-US" sz="1050" dirty="0"/>
          </a:p>
          <a:p>
            <a:pPr marL="0" indent="0" algn="ctr">
              <a:lnSpc>
                <a:spcPts val="147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Unauthorized copying, distribution, or commercial use without written permission is prohibited.</a:t>
            </a:r>
            <a:endParaRPr lang="en-US" sz="1050" dirty="0"/>
          </a:p>
        </p:txBody>
      </p:sp>
      <p:pic>
        <p:nvPicPr>
          <p:cNvPr id="10" name="Picture 9" descr="177341291879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" y="86995"/>
            <a:ext cx="1957705" cy="195770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11625</Words>
  <Application>WPS Presentation</Application>
  <PresentationFormat>On-screen Show (16:9)</PresentationFormat>
  <Paragraphs>545</Paragraphs>
  <Slides>53</Slides>
  <Notes>53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53</vt:i4>
      </vt:variant>
    </vt:vector>
  </HeadingPairs>
  <TitlesOfParts>
    <vt:vector size="67" baseType="lpstr">
      <vt:lpstr>Arial</vt:lpstr>
      <vt:lpstr>SimSun</vt:lpstr>
      <vt:lpstr>Wingdings</vt:lpstr>
      <vt:lpstr>Arial</vt:lpstr>
      <vt:lpstr>Arial</vt:lpstr>
      <vt:lpstr>Calibri</vt:lpstr>
      <vt:lpstr>Microsoft YaHei</vt:lpstr>
      <vt:lpstr>Arial Unicode MS</vt:lpstr>
      <vt:lpstr>Calibri Light</vt:lpstr>
      <vt:lpstr>等线</vt:lpstr>
      <vt:lpstr>Nunito Sans ExtraBold</vt:lpstr>
      <vt:lpstr>Segoe Print</vt:lpstr>
      <vt:lpstr>Nunito Sans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Perplexity AI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Converted Presentation</dc:title>
  <dc:creator>Perplexity</dc:creator>
  <dc:subject>PptxGenJS Presentation</dc:subject>
  <cp:lastModifiedBy>WPS_1773770013</cp:lastModifiedBy>
  <cp:revision>2</cp:revision>
  <dcterms:created xsi:type="dcterms:W3CDTF">2026-03-25T19:42:00Z</dcterms:created>
  <dcterms:modified xsi:type="dcterms:W3CDTF">2026-03-25T20:46:45Z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1033-12.1.0.25242</vt:lpwstr>
  </property>
  <property fmtid="{D5CDD505-2E9C-101B-9397-08002B2CF9AE}" pid="3" name="ICV">
    <vt:lpwstr>9517430E9A81428DAF8B3A83F6560A2F_12</vt:lpwstr>
  </property>
</Properties>
</file>