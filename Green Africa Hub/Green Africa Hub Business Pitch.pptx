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7857"/>
        </a:solidFill>
        <a:effectLst/>
      </p:bgPr>
    </p:bg>
    <p:spTree>
      <p:nvGrpSpPr>
        <p:cNvPr id="1" name=""/>
        <p:cNvGrpSpPr/>
        <p:nvPr/>
      </p:nvGrpSpPr>
      <p:grpSpPr>
        <a:xfrm>
          <a:off x="0" y="0"/>
          <a:ext cx="0" cy="0"/>
          <a:chOff x="0" y="0"/>
          <a:chExt cx="0" cy="0"/>
        </a:xfrm>
      </p:grpSpPr>
      <p:sp>
        <p:nvSpPr>
          <p:cNvPr id="2" name="Text 0"/>
          <p:cNvSpPr/>
          <p:nvPr/>
        </p:nvSpPr>
        <p:spPr>
          <a:xfrm>
            <a:off x="1036774" y="1558290"/>
            <a:ext cx="7070334" cy="685800"/>
          </a:xfrm>
          <a:prstGeom prst="rect">
            <a:avLst/>
          </a:prstGeom>
          <a:noFill/>
        </p:spPr>
        <p:txBody>
          <a:bodyPr wrap="square" lIns="0" tIns="0" rIns="0" bIns="0" rtlCol="0" anchor="t"/>
          <a:lstStyle/>
          <a:p>
            <a:pPr marL="0" indent="0" algn="ctr">
              <a:lnSpc>
                <a:spcPts val="5400"/>
              </a:lnSpc>
              <a:buNone/>
            </a:pPr>
            <a:r>
              <a:rPr lang="en-US" sz="4500" b="1" dirty="0">
                <a:solidFill>
                  <a:srgbClr val="FFFFFF"/>
                </a:solidFill>
                <a:latin typeface="Arial" panose="020B0604020202020204" pitchFamily="34" charset="0"/>
                <a:ea typeface="Arial" panose="020B0604020202020204" pitchFamily="34" charset="-122"/>
                <a:cs typeface="Arial" panose="020B0604020202020204" pitchFamily="34" charset="-120"/>
              </a:rPr>
              <a:t>GREEN AFRICA HUB LTD</a:t>
            </a:r>
            <a:endParaRPr lang="en-US" sz="4500" dirty="0"/>
          </a:p>
        </p:txBody>
      </p:sp>
      <p:sp>
        <p:nvSpPr>
          <p:cNvPr id="3" name="Text 1"/>
          <p:cNvSpPr/>
          <p:nvPr/>
        </p:nvSpPr>
        <p:spPr>
          <a:xfrm>
            <a:off x="2439812" y="2396490"/>
            <a:ext cx="4264376" cy="320040"/>
          </a:xfrm>
          <a:prstGeom prst="rect">
            <a:avLst/>
          </a:prstGeom>
          <a:noFill/>
        </p:spPr>
        <p:txBody>
          <a:bodyPr wrap="square" lIns="0" tIns="0" rIns="0" bIns="0" rtlCol="0" anchor="t"/>
          <a:lstStyle/>
          <a:p>
            <a:pPr marL="0" indent="0" algn="ctr">
              <a:lnSpc>
                <a:spcPts val="252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Sustaining Heritage, Powering the Future</a:t>
            </a:r>
            <a:endParaRPr lang="en-US" sz="1800" dirty="0"/>
          </a:p>
        </p:txBody>
      </p:sp>
      <p:sp>
        <p:nvSpPr>
          <p:cNvPr id="4" name="Text 2"/>
          <p:cNvSpPr/>
          <p:nvPr/>
        </p:nvSpPr>
        <p:spPr>
          <a:xfrm>
            <a:off x="2430098" y="2868930"/>
            <a:ext cx="4283685" cy="240030"/>
          </a:xfrm>
          <a:prstGeom prst="rect">
            <a:avLst/>
          </a:prstGeom>
          <a:noFill/>
        </p:spPr>
        <p:txBody>
          <a:bodyPr wrap="square" lIns="0" tIns="0" rIns="0" bIns="0" rtlCol="0" anchor="t"/>
          <a:lstStyle/>
          <a:p>
            <a:pPr marL="0" indent="0" algn="ctr">
              <a:lnSpc>
                <a:spcPts val="1890"/>
              </a:lnSpc>
              <a:buNone/>
            </a:pPr>
            <a:r>
              <a:rPr lang="en-US" sz="1350" dirty="0">
                <a:solidFill>
                  <a:srgbClr val="FFFFFF"/>
                </a:solidFill>
                <a:latin typeface="Arial" panose="020B0604020202020204" pitchFamily="34" charset="0"/>
                <a:ea typeface="Arial" panose="020B0604020202020204" pitchFamily="34" charset="-122"/>
                <a:cs typeface="Arial" panose="020B0604020202020204" pitchFamily="34" charset="-120"/>
              </a:rPr>
              <a:t>Business Plan — Innovator Founder Visa Endorsement</a:t>
            </a:r>
            <a:endParaRPr lang="en-US" sz="1350" dirty="0"/>
          </a:p>
        </p:txBody>
      </p:sp>
      <p:sp>
        <p:nvSpPr>
          <p:cNvPr id="5" name="Text 3"/>
          <p:cNvSpPr/>
          <p:nvPr/>
        </p:nvSpPr>
        <p:spPr>
          <a:xfrm>
            <a:off x="2689500" y="3337560"/>
            <a:ext cx="3764999" cy="213360"/>
          </a:xfrm>
          <a:prstGeom prst="rect">
            <a:avLst/>
          </a:prstGeom>
          <a:noFill/>
        </p:spPr>
        <p:txBody>
          <a:bodyPr wrap="square" lIns="0" tIns="0" rIns="0" bIns="0" rtlCol="0" anchor="t"/>
          <a:lstStyle/>
          <a:p>
            <a:pPr marL="0" indent="0" algn="ctr">
              <a:lnSpc>
                <a:spcPts val="1680"/>
              </a:lnSpc>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Company No. 17107299 | Incorporated 21 March 2026</a:t>
            </a:r>
            <a:endParaRPr lang="en-US" sz="1200" dirty="0"/>
          </a:p>
        </p:txBody>
      </p:sp>
      <p:sp>
        <p:nvSpPr>
          <p:cNvPr id="6" name="Text 4"/>
          <p:cNvSpPr/>
          <p:nvPr/>
        </p:nvSpPr>
        <p:spPr>
          <a:xfrm>
            <a:off x="2898506" y="3703320"/>
            <a:ext cx="3346868" cy="186690"/>
          </a:xfrm>
          <a:prstGeom prst="rect">
            <a:avLst/>
          </a:prstGeom>
          <a:noFill/>
        </p:spPr>
        <p:txBody>
          <a:bodyPr wrap="square" lIns="0" tIns="0" rIns="0" bIns="0" rtlCol="0" anchor="t"/>
          <a:lstStyle/>
          <a:p>
            <a:pPr marL="0" indent="0" algn="ctr">
              <a:lnSpc>
                <a:spcPts val="1470"/>
              </a:lnSpc>
              <a:buNone/>
            </a:pPr>
            <a:r>
              <a:rPr lang="en-US" sz="1050" dirty="0">
                <a:solidFill>
                  <a:srgbClr val="FFFFFF"/>
                </a:solidFill>
                <a:latin typeface="Arial" panose="020B0604020202020204" pitchFamily="34" charset="0"/>
                <a:ea typeface="Arial" panose="020B0604020202020204" pitchFamily="34" charset="-122"/>
                <a:cs typeface="Arial" panose="020B0604020202020204" pitchFamily="34" charset="-120"/>
              </a:rPr>
              <a:t>Prepared for Envestors Ltd | Version 1.0 — March 2026</a:t>
            </a:r>
            <a:endParaRPr lang="en-US" sz="1050" dirty="0"/>
          </a:p>
        </p:txBody>
      </p:sp>
      <p:sp>
        <p:nvSpPr>
          <p:cNvPr id="7" name="Text 5"/>
          <p:cNvSpPr/>
          <p:nvPr/>
        </p:nvSpPr>
        <p:spPr>
          <a:xfrm>
            <a:off x="190500" y="4408170"/>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NOTES: Welcome investors to Green Africa Hub. Established social enterprise addressing critical market gap in African/Caribbean sustainable cooking. Seeking Innovator Founder Visa endorsement. Presentation demonstrates innovation, viability, and scalability criteria.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890832" y="142875"/>
            <a:ext cx="1432429" cy="168354"/>
          </a:xfrm>
          <a:prstGeom prst="rect">
            <a:avLst/>
          </a:prstGeom>
          <a:noFill/>
        </p:spPr>
        <p:txBody>
          <a:bodyPr wrap="square" lIns="0" tIns="0" rIns="0" bIns="0" rtlCol="0" anchor="t"/>
          <a:lstStyle/>
          <a:p>
            <a:pPr marL="0" indent="0" algn="ctr">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Green Africa Hub Ltd</a:t>
            </a:r>
            <a:endParaRPr lang="en-US" sz="1020" dirty="0"/>
          </a:p>
        </p:txBody>
      </p:sp>
      <p:sp>
        <p:nvSpPr>
          <p:cNvPr id="3" name="Text 1"/>
          <p:cNvSpPr/>
          <p:nvPr/>
        </p:nvSpPr>
        <p:spPr>
          <a:xfrm>
            <a:off x="890832" y="311229"/>
            <a:ext cx="1432429" cy="168354"/>
          </a:xfrm>
          <a:prstGeom prst="rect">
            <a:avLst/>
          </a:prstGeom>
          <a:noFill/>
        </p:spPr>
        <p:txBody>
          <a:bodyPr wrap="square" lIns="0" tIns="0" rIns="0" bIns="0" rtlCol="0" anchor="t"/>
          <a:lstStyle/>
          <a:p>
            <a:pPr marL="0" indent="0" algn="ctr">
              <a:lnSpc>
                <a:spcPts val="1325"/>
              </a:lnSpc>
              <a:buNone/>
            </a:pP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Company No. 17107299</a:t>
            </a:r>
            <a:endParaRPr lang="en-US" sz="1020" dirty="0"/>
          </a:p>
        </p:txBody>
      </p:sp>
      <p:sp>
        <p:nvSpPr>
          <p:cNvPr id="4" name="Text 2"/>
          <p:cNvSpPr/>
          <p:nvPr/>
        </p:nvSpPr>
        <p:spPr>
          <a:xfrm>
            <a:off x="3561466" y="1889760"/>
            <a:ext cx="2021067" cy="411480"/>
          </a:xfrm>
          <a:prstGeom prst="rect">
            <a:avLst/>
          </a:prstGeom>
          <a:noFill/>
        </p:spPr>
        <p:txBody>
          <a:bodyPr wrap="square" lIns="0" tIns="0" rIns="0" bIns="0" rtlCol="0" anchor="t"/>
          <a:lstStyle/>
          <a:p>
            <a:pPr marL="0" indent="0" algn="ctr">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Our Mission</a:t>
            </a:r>
            <a:endParaRPr lang="en-US" sz="2700" dirty="0"/>
          </a:p>
        </p:txBody>
      </p:sp>
      <p:sp>
        <p:nvSpPr>
          <p:cNvPr id="5" name="Text 3"/>
          <p:cNvSpPr/>
          <p:nvPr/>
        </p:nvSpPr>
        <p:spPr>
          <a:xfrm>
            <a:off x="762000" y="2606040"/>
            <a:ext cx="7620000" cy="1219200"/>
          </a:xfrm>
          <a:prstGeom prst="rect">
            <a:avLst/>
          </a:prstGeom>
          <a:noFill/>
        </p:spPr>
        <p:txBody>
          <a:bodyPr wrap="square" lIns="0" tIns="0" rIns="0" bIns="0" rtlCol="0" anchor="t"/>
          <a:lstStyle/>
          <a:p>
            <a:pPr marL="0" indent="0" algn="ctr">
              <a:lnSpc>
                <a:spcPts val="2400"/>
              </a:lnSpc>
              <a:buNone/>
            </a:pPr>
            <a:r>
              <a:rPr lang="en-US" sz="1500" dirty="0">
                <a:solidFill>
                  <a:srgbClr val="CBD5E1"/>
                </a:solidFill>
                <a:latin typeface="Arial" panose="020B0604020202020204" pitchFamily="34" charset="0"/>
                <a:ea typeface="Arial" panose="020B0604020202020204" pitchFamily="34" charset="-122"/>
                <a:cs typeface="Arial" panose="020B0604020202020204" pitchFamily="34" charset="-120"/>
              </a:rPr>
              <a:t>"Sustainability is everyone's business — and should be the business of everyone. Green Africa Hub exists to ensure that Black communities are not just part of the green transition but leading it — protecting our heritage, powering our future, and making this planet a better place for our children, our communities, and for all."</a:t>
            </a:r>
            <a:endParaRPr lang="en-US" sz="1500" dirty="0"/>
          </a:p>
        </p:txBody>
      </p:sp>
      <p:sp>
        <p:nvSpPr>
          <p:cNvPr id="6" name="Text 4"/>
          <p:cNvSpPr/>
          <p:nvPr/>
        </p:nvSpPr>
        <p:spPr>
          <a:xfrm>
            <a:off x="190500" y="4408170"/>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Core mission centers on environmental justice and cultural preservation. African/Caribbean communities disproportionately affected by fuel poverty yet excluded from green transition solutions. We position communities as leaders, not followers, in sustainability.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255971"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Executive Summary</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The Opportunity</a:t>
            </a:r>
            <a:endParaRPr lang="en-US" sz="2700" dirty="0"/>
          </a:p>
        </p:txBody>
      </p:sp>
      <p:sp>
        <p:nvSpPr>
          <p:cNvPr id="4" name="Text 2"/>
          <p:cNvSpPr/>
          <p:nvPr/>
        </p:nvSpPr>
        <p:spPr>
          <a:xfrm>
            <a:off x="609600" y="1935481"/>
            <a:ext cx="8083296" cy="240030"/>
          </a:xfrm>
          <a:prstGeom prst="rect">
            <a:avLst/>
          </a:prstGeom>
          <a:noFill/>
        </p:spPr>
        <p:txBody>
          <a:bodyPr wrap="square" lIns="0" tIns="0" rIns="0" bIns="0" rtlCol="0" anchor="t"/>
          <a:lstStyle/>
          <a:p>
            <a:pPr marL="0" indent="0">
              <a:lnSpc>
                <a:spcPts val="1890"/>
              </a:lnSpc>
              <a:buNone/>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Green Africa Hub Ltd is a UK social enterprise addressing a critical gap:</a:t>
            </a:r>
            <a:endParaRPr lang="en-US" sz="1350" dirty="0"/>
          </a:p>
        </p:txBody>
      </p:sp>
      <p:sp>
        <p:nvSpPr>
          <p:cNvPr id="5" name="Text 3"/>
          <p:cNvSpPr/>
          <p:nvPr/>
        </p:nvSpPr>
        <p:spPr>
          <a:xfrm>
            <a:off x="914400" y="2327910"/>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African &amp; Caribbean communities face fuel poverty</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Lack access to culturally appropriate green cooking</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18 months R&amp;D: Smart-Prep methodology developed</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Adapts traditional recipes for induction cooking</a:t>
            </a:r>
            <a:endParaRPr lang="en-US" sz="1350" dirty="0"/>
          </a:p>
        </p:txBody>
      </p:sp>
      <p:sp>
        <p:nvSpPr>
          <p:cNvPr id="6" name="Text 4"/>
          <p:cNvSpPr/>
          <p:nvPr/>
        </p:nvSpPr>
        <p:spPr>
          <a:xfrm>
            <a:off x="190500" y="4408170"/>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Problem validated through 18 months pre-incorporation research. Smart-Prep methodology is proprietary IP. Traditional cooking methods (gas-intensive) conflict with rising energy costs and Net Zero targets. Our solution bridges cultural authenticity with green technology.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7857"/>
        </a:solidFill>
        <a:effectLst/>
      </p:bgPr>
    </p:bg>
    <p:spTree>
      <p:nvGrpSpPr>
        <p:cNvPr id="1" name=""/>
        <p:cNvGrpSpPr/>
        <p:nvPr/>
      </p:nvGrpSpPr>
      <p:grpSpPr>
        <a:xfrm>
          <a:off x="0" y="0"/>
          <a:ext cx="0" cy="0"/>
          <a:chOff x="0" y="0"/>
          <a:chExt cx="0" cy="0"/>
        </a:xfrm>
      </p:grpSpPr>
      <p:sp>
        <p:nvSpPr>
          <p:cNvPr id="2" name="Text 0"/>
          <p:cNvSpPr/>
          <p:nvPr/>
        </p:nvSpPr>
        <p:spPr>
          <a:xfrm>
            <a:off x="609600" y="1216223"/>
            <a:ext cx="7924800" cy="1040844"/>
          </a:xfrm>
          <a:prstGeom prst="rect">
            <a:avLst/>
          </a:prstGeom>
          <a:solidFill>
            <a:srgbClr val="FFFFFF">
              <a:alpha val="10000"/>
            </a:srgbClr>
          </a:solidFill>
        </p:spPr>
        <p:txBody>
          <a:bodyPr wrap="none" lIns="0" tIns="0" rIns="0" bIns="0" rtlCol="0" anchor="ctr">
            <a:normAutofit/>
          </a:bodyPr>
          <a:lstStyle/>
          <a:p>
            <a:pPr marL="0" indent="0">
              <a:buNone/>
            </a:pPr>
            <a:endParaRPr lang="en-US" dirty="0"/>
          </a:p>
        </p:txBody>
      </p:sp>
      <p:sp>
        <p:nvSpPr>
          <p:cNvPr id="3" name="Text 1"/>
          <p:cNvSpPr/>
          <p:nvPr/>
        </p:nvSpPr>
        <p:spPr>
          <a:xfrm>
            <a:off x="609600" y="2257068"/>
            <a:ext cx="7924800" cy="1040844"/>
          </a:xfrm>
          <a:prstGeom prst="rect">
            <a:avLst/>
          </a:prstGeom>
          <a:solidFill>
            <a:srgbClr val="FFFFFF">
              <a:alpha val="10000"/>
            </a:srgbClr>
          </a:solidFill>
        </p:spPr>
        <p:txBody>
          <a:bodyPr wrap="none" lIns="0" tIns="0" rIns="0" bIns="0" rtlCol="0" anchor="ctr">
            <a:normAutofit/>
          </a:bodyPr>
          <a:lstStyle/>
          <a:p>
            <a:pPr marL="0" indent="0">
              <a:buNone/>
            </a:pPr>
            <a:endParaRPr lang="en-US" dirty="0"/>
          </a:p>
        </p:txBody>
      </p:sp>
      <p:sp>
        <p:nvSpPr>
          <p:cNvPr id="4" name="Text 2"/>
          <p:cNvSpPr/>
          <p:nvPr/>
        </p:nvSpPr>
        <p:spPr>
          <a:xfrm>
            <a:off x="609600" y="3297913"/>
            <a:ext cx="7924800" cy="1040844"/>
          </a:xfrm>
          <a:prstGeom prst="rect">
            <a:avLst/>
          </a:prstGeom>
          <a:solidFill>
            <a:srgbClr val="FFFFFF">
              <a:alpha val="10000"/>
            </a:srgbClr>
          </a:solidFill>
        </p:spPr>
        <p:txBody>
          <a:bodyPr wrap="none" lIns="0" tIns="0" rIns="0" bIns="0" rtlCol="0" anchor="ctr">
            <a:normAutofit/>
          </a:bodyPr>
          <a:lstStyle/>
          <a:p>
            <a:pPr marL="0" indent="0">
              <a:buNone/>
            </a:pPr>
            <a:endParaRPr lang="en-US" dirty="0"/>
          </a:p>
        </p:txBody>
      </p:sp>
      <p:sp>
        <p:nvSpPr>
          <p:cNvPr id="5" name="Text 3"/>
          <p:cNvSpPr/>
          <p:nvPr/>
        </p:nvSpPr>
        <p:spPr>
          <a:xfrm>
            <a:off x="3114312" y="499944"/>
            <a:ext cx="2915257" cy="411480"/>
          </a:xfrm>
          <a:prstGeom prst="rect">
            <a:avLst/>
          </a:prstGeom>
          <a:noFill/>
        </p:spPr>
        <p:txBody>
          <a:bodyPr wrap="square" lIns="0" tIns="0" rIns="0" bIns="0" rtlCol="0" anchor="t"/>
          <a:lstStyle/>
          <a:p>
            <a:pPr marL="0" indent="0" algn="ctr">
              <a:lnSpc>
                <a:spcPts val="3240"/>
              </a:lnSpc>
              <a:buNone/>
            </a:pPr>
            <a:r>
              <a:rPr lang="en-US" sz="2700" b="1" dirty="0">
                <a:solidFill>
                  <a:srgbClr val="FFFFFF"/>
                </a:solidFill>
                <a:latin typeface="Arial" panose="020B0604020202020204" pitchFamily="34" charset="0"/>
                <a:ea typeface="Arial" panose="020B0604020202020204" pitchFamily="34" charset="-122"/>
                <a:cs typeface="Arial" panose="020B0604020202020204" pitchFamily="34" charset="-120"/>
              </a:rPr>
              <a:t>Our Unique Value</a:t>
            </a:r>
            <a:endParaRPr lang="en-US" sz="2700" dirty="0"/>
          </a:p>
        </p:txBody>
      </p:sp>
      <p:sp>
        <p:nvSpPr>
          <p:cNvPr id="6" name="Text 4"/>
          <p:cNvSpPr/>
          <p:nvPr/>
        </p:nvSpPr>
        <p:spPr>
          <a:xfrm>
            <a:off x="763524" y="1444823"/>
            <a:ext cx="7616952" cy="228600"/>
          </a:xfrm>
          <a:prstGeom prst="rect">
            <a:avLst/>
          </a:prstGeom>
          <a:noFill/>
        </p:spPr>
        <p:txBody>
          <a:bodyPr wrap="square" lIns="0" tIns="0" rIns="0" bIns="0" rtlCol="0" anchor="t"/>
          <a:lstStyle/>
          <a:p>
            <a:pPr marL="0" indent="0" algn="ctr">
              <a:lnSpc>
                <a:spcPts val="1800"/>
              </a:lnSpc>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INNOVATIVE</a:t>
            </a:r>
            <a:endParaRPr lang="en-US" sz="1500" dirty="0"/>
          </a:p>
        </p:txBody>
      </p:sp>
      <p:sp>
        <p:nvSpPr>
          <p:cNvPr id="7" name="Text 5"/>
          <p:cNvSpPr/>
          <p:nvPr/>
        </p:nvSpPr>
        <p:spPr>
          <a:xfrm>
            <a:off x="763524" y="1825823"/>
            <a:ext cx="7616952" cy="202644"/>
          </a:xfrm>
          <a:prstGeom prst="rect">
            <a:avLst/>
          </a:prstGeom>
          <a:noFill/>
        </p:spPr>
        <p:txBody>
          <a:bodyPr wrap="square" lIns="0" tIns="0" rIns="0" bIns="0" rtlCol="0" anchor="t"/>
          <a:lstStyle/>
          <a:p>
            <a:pPr marL="0" indent="0" algn="ctr">
              <a:lnSpc>
                <a:spcPts val="1595"/>
              </a:lnSpc>
              <a:buNone/>
            </a:pPr>
            <a:r>
              <a:rPr lang="en-US" sz="1140" dirty="0">
                <a:solidFill>
                  <a:srgbClr val="FFFFFF"/>
                </a:solidFill>
                <a:latin typeface="Arial" panose="020B0604020202020204" pitchFamily="34" charset="0"/>
                <a:ea typeface="Arial" panose="020B0604020202020204" pitchFamily="34" charset="-122"/>
                <a:cs typeface="Arial" panose="020B0604020202020204" pitchFamily="34" charset="-120"/>
              </a:rPr>
              <a:t>UK's first AI carbon tracker for African/Caribbean catering</a:t>
            </a:r>
            <a:endParaRPr lang="en-US" sz="1140" dirty="0"/>
          </a:p>
        </p:txBody>
      </p:sp>
      <p:sp>
        <p:nvSpPr>
          <p:cNvPr id="8" name="Text 6"/>
          <p:cNvSpPr/>
          <p:nvPr/>
        </p:nvSpPr>
        <p:spPr>
          <a:xfrm>
            <a:off x="763524" y="2485668"/>
            <a:ext cx="7616952" cy="228600"/>
          </a:xfrm>
          <a:prstGeom prst="rect">
            <a:avLst/>
          </a:prstGeom>
          <a:noFill/>
        </p:spPr>
        <p:txBody>
          <a:bodyPr wrap="square" lIns="0" tIns="0" rIns="0" bIns="0" rtlCol="0" anchor="t"/>
          <a:lstStyle/>
          <a:p>
            <a:pPr marL="0" indent="0" algn="ctr">
              <a:lnSpc>
                <a:spcPts val="1800"/>
              </a:lnSpc>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VIABLE</a:t>
            </a:r>
            <a:endParaRPr lang="en-US" sz="1500" dirty="0"/>
          </a:p>
        </p:txBody>
      </p:sp>
      <p:sp>
        <p:nvSpPr>
          <p:cNvPr id="9" name="Text 7"/>
          <p:cNvSpPr/>
          <p:nvPr/>
        </p:nvSpPr>
        <p:spPr>
          <a:xfrm>
            <a:off x="763524" y="2866668"/>
            <a:ext cx="7616952" cy="202644"/>
          </a:xfrm>
          <a:prstGeom prst="rect">
            <a:avLst/>
          </a:prstGeom>
          <a:noFill/>
        </p:spPr>
        <p:txBody>
          <a:bodyPr wrap="square" lIns="0" tIns="0" rIns="0" bIns="0" rtlCol="0" anchor="t"/>
          <a:lstStyle/>
          <a:p>
            <a:pPr marL="0" indent="0" algn="ctr">
              <a:lnSpc>
                <a:spcPts val="1595"/>
              </a:lnSpc>
              <a:buNone/>
            </a:pPr>
            <a:r>
              <a:rPr lang="en-US" sz="1140" dirty="0">
                <a:solidFill>
                  <a:srgbClr val="FFFFFF"/>
                </a:solidFill>
                <a:latin typeface="Arial" panose="020B0604020202020204" pitchFamily="34" charset="0"/>
                <a:ea typeface="Arial" panose="020B0604020202020204" pitchFamily="34" charset="-122"/>
                <a:cs typeface="Arial" panose="020B0604020202020204" pitchFamily="34" charset="-120"/>
              </a:rPr>
              <a:t>5 revenue streams, institutional partnerships</a:t>
            </a:r>
            <a:endParaRPr lang="en-US" sz="1140" dirty="0"/>
          </a:p>
        </p:txBody>
      </p:sp>
      <p:sp>
        <p:nvSpPr>
          <p:cNvPr id="10" name="Text 8"/>
          <p:cNvSpPr/>
          <p:nvPr/>
        </p:nvSpPr>
        <p:spPr>
          <a:xfrm>
            <a:off x="763524" y="3526513"/>
            <a:ext cx="7616952" cy="228600"/>
          </a:xfrm>
          <a:prstGeom prst="rect">
            <a:avLst/>
          </a:prstGeom>
          <a:noFill/>
        </p:spPr>
        <p:txBody>
          <a:bodyPr wrap="square" lIns="0" tIns="0" rIns="0" bIns="0" rtlCol="0" anchor="t"/>
          <a:lstStyle/>
          <a:p>
            <a:pPr marL="0" indent="0" algn="ctr">
              <a:lnSpc>
                <a:spcPts val="1800"/>
              </a:lnSpc>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SCALABLE</a:t>
            </a:r>
            <a:endParaRPr lang="en-US" sz="1500" dirty="0"/>
          </a:p>
        </p:txBody>
      </p:sp>
      <p:sp>
        <p:nvSpPr>
          <p:cNvPr id="11" name="Text 9"/>
          <p:cNvSpPr/>
          <p:nvPr/>
        </p:nvSpPr>
        <p:spPr>
          <a:xfrm>
            <a:off x="763524" y="3907513"/>
            <a:ext cx="7616952" cy="202644"/>
          </a:xfrm>
          <a:prstGeom prst="rect">
            <a:avLst/>
          </a:prstGeom>
          <a:noFill/>
        </p:spPr>
        <p:txBody>
          <a:bodyPr wrap="square" lIns="0" tIns="0" rIns="0" bIns="0" rtlCol="0" anchor="t"/>
          <a:lstStyle/>
          <a:p>
            <a:pPr marL="0" indent="0" algn="ctr">
              <a:lnSpc>
                <a:spcPts val="1595"/>
              </a:lnSpc>
              <a:buNone/>
            </a:pPr>
            <a:r>
              <a:rPr lang="en-US" sz="1140" dirty="0">
                <a:solidFill>
                  <a:srgbClr val="FFFFFF"/>
                </a:solidFill>
                <a:latin typeface="Arial" panose="020B0604020202020204" pitchFamily="34" charset="0"/>
                <a:ea typeface="Arial" panose="020B0604020202020204" pitchFamily="34" charset="-122"/>
                <a:cs typeface="Arial" panose="020B0604020202020204" pitchFamily="34" charset="-120"/>
              </a:rPr>
              <a:t>Hub &amp; Spoke model, SaaS potential</a:t>
            </a:r>
            <a:endParaRPr lang="en-US" sz="1140" dirty="0"/>
          </a:p>
        </p:txBody>
      </p:sp>
      <p:sp>
        <p:nvSpPr>
          <p:cNvPr id="12" name="Text 10"/>
          <p:cNvSpPr/>
          <p:nvPr/>
        </p:nvSpPr>
        <p:spPr>
          <a:xfrm>
            <a:off x="190500" y="4408170"/>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NOTES: These three pillars directly align with Innovator Founder Visa criteria. INNOVATIVE: No UK competitor offers this combination. VIABLE: Proven founder credentials, diversified income, institutional backing. SCALABLE: Digital-first model enables national reach from Bristol base.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5" name="Text 3"/>
          <p:cNvSpPr/>
          <p:nvPr/>
        </p:nvSpPr>
        <p:spPr>
          <a:xfrm>
            <a:off x="904875" y="142875"/>
            <a:ext cx="1255364"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Financial Highlights</a:t>
            </a:r>
            <a:endParaRPr lang="en-US" sz="1020" dirty="0"/>
          </a:p>
        </p:txBody>
      </p:sp>
      <p:sp>
        <p:nvSpPr>
          <p:cNvPr id="6" name="Text 4"/>
          <p:cNvSpPr/>
          <p:nvPr/>
        </p:nvSpPr>
        <p:spPr>
          <a:xfrm>
            <a:off x="609600" y="477520"/>
            <a:ext cx="8083550" cy="704215"/>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Revenue Projections</a:t>
            </a:r>
            <a:endParaRPr lang="en-US" sz="2700" dirty="0"/>
          </a:p>
        </p:txBody>
      </p:sp>
      <p:sp>
        <p:nvSpPr>
          <p:cNvPr id="7" name="Text 5"/>
          <p:cNvSpPr/>
          <p:nvPr/>
        </p:nvSpPr>
        <p:spPr>
          <a:xfrm>
            <a:off x="838200" y="1109980"/>
            <a:ext cx="7616825" cy="422275"/>
          </a:xfrm>
          <a:prstGeom prst="rect">
            <a:avLst/>
          </a:prstGeom>
          <a:noFill/>
        </p:spPr>
        <p:txBody>
          <a:bodyPr wrap="square" lIns="0" tIns="0" rIns="0" bIns="0" rtlCol="0" anchor="t"/>
          <a:lstStyle/>
          <a:p>
            <a:pPr marL="0" indent="0">
              <a:lnSpc>
                <a:spcPts val="2160"/>
              </a:lnSpc>
              <a:buNone/>
            </a:pPr>
            <a:r>
              <a:rPr lang="en-US" sz="1800" b="1" dirty="0">
                <a:solidFill>
                  <a:srgbClr val="10B981"/>
                </a:solidFill>
                <a:latin typeface="Arial" panose="020B0604020202020204" pitchFamily="34" charset="0"/>
                <a:ea typeface="Arial" panose="020B0604020202020204" pitchFamily="34" charset="-122"/>
                <a:cs typeface="Arial" panose="020B0604020202020204" pitchFamily="34" charset="-120"/>
              </a:rPr>
              <a:t>£28,200</a:t>
            </a:r>
            <a:endParaRPr lang="en-US" sz="1800" dirty="0"/>
          </a:p>
        </p:txBody>
      </p:sp>
      <p:sp>
        <p:nvSpPr>
          <p:cNvPr id="8" name="Text 6"/>
          <p:cNvSpPr/>
          <p:nvPr/>
        </p:nvSpPr>
        <p:spPr>
          <a:xfrm>
            <a:off x="838200" y="1447165"/>
            <a:ext cx="7616825" cy="194310"/>
          </a:xfrm>
          <a:prstGeom prst="rect">
            <a:avLst/>
          </a:prstGeom>
          <a:noFill/>
        </p:spPr>
        <p:txBody>
          <a:bodyPr wrap="square" lIns="0" tIns="0" rIns="0" bIns="0" rtlCol="0" anchor="t"/>
          <a:lstStyle/>
          <a:p>
            <a:pPr marL="0" indent="0">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Year 1 Revenue</a:t>
            </a:r>
            <a:endParaRPr lang="en-US" sz="1200" dirty="0"/>
          </a:p>
        </p:txBody>
      </p:sp>
      <p:sp>
        <p:nvSpPr>
          <p:cNvPr id="9" name="Text 7"/>
          <p:cNvSpPr/>
          <p:nvPr/>
        </p:nvSpPr>
        <p:spPr>
          <a:xfrm>
            <a:off x="838200" y="1910080"/>
            <a:ext cx="7616825" cy="273685"/>
          </a:xfrm>
          <a:prstGeom prst="rect">
            <a:avLst/>
          </a:prstGeom>
          <a:noFill/>
        </p:spPr>
        <p:txBody>
          <a:bodyPr wrap="square" lIns="0" tIns="0" rIns="0" bIns="0" rtlCol="0" anchor="t"/>
          <a:lstStyle/>
          <a:p>
            <a:pPr marL="0" indent="0">
              <a:lnSpc>
                <a:spcPts val="2160"/>
              </a:lnSpc>
              <a:buNone/>
            </a:pPr>
            <a:r>
              <a:rPr lang="en-US" sz="1800" b="1" dirty="0">
                <a:solidFill>
                  <a:srgbClr val="10B981"/>
                </a:solidFill>
                <a:latin typeface="Arial" panose="020B0604020202020204" pitchFamily="34" charset="0"/>
                <a:ea typeface="Arial" panose="020B0604020202020204" pitchFamily="34" charset="-122"/>
                <a:cs typeface="Arial" panose="020B0604020202020204" pitchFamily="34" charset="-120"/>
              </a:rPr>
              <a:t>£87,500</a:t>
            </a:r>
            <a:endParaRPr lang="en-US" sz="1800" dirty="0"/>
          </a:p>
        </p:txBody>
      </p:sp>
      <p:sp>
        <p:nvSpPr>
          <p:cNvPr id="10" name="Text 8"/>
          <p:cNvSpPr/>
          <p:nvPr/>
        </p:nvSpPr>
        <p:spPr>
          <a:xfrm>
            <a:off x="838200" y="2273935"/>
            <a:ext cx="7616825" cy="231775"/>
          </a:xfrm>
          <a:prstGeom prst="rect">
            <a:avLst/>
          </a:prstGeom>
          <a:noFill/>
        </p:spPr>
        <p:txBody>
          <a:bodyPr wrap="square" lIns="0" tIns="0" rIns="0" bIns="0" rtlCol="0" anchor="t"/>
          <a:lstStyle/>
          <a:p>
            <a:pPr marL="0" indent="0">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Year 2 Revenue</a:t>
            </a:r>
            <a:endParaRPr lang="en-US" sz="1200" dirty="0"/>
          </a:p>
        </p:txBody>
      </p:sp>
      <p:sp>
        <p:nvSpPr>
          <p:cNvPr id="11" name="Text 9"/>
          <p:cNvSpPr/>
          <p:nvPr/>
        </p:nvSpPr>
        <p:spPr>
          <a:xfrm>
            <a:off x="838835" y="2744470"/>
            <a:ext cx="7439025" cy="322580"/>
          </a:xfrm>
          <a:prstGeom prst="rect">
            <a:avLst/>
          </a:prstGeom>
          <a:noFill/>
        </p:spPr>
        <p:txBody>
          <a:bodyPr wrap="square" lIns="0" tIns="0" rIns="0" bIns="0" rtlCol="0" anchor="t"/>
          <a:lstStyle/>
          <a:p>
            <a:pPr marL="0" indent="0">
              <a:lnSpc>
                <a:spcPts val="2160"/>
              </a:lnSpc>
              <a:buNone/>
            </a:pPr>
            <a:r>
              <a:rPr lang="en-US" sz="1800" b="1" dirty="0">
                <a:solidFill>
                  <a:srgbClr val="10B981"/>
                </a:solidFill>
                <a:latin typeface="Arial" panose="020B0604020202020204" pitchFamily="34" charset="0"/>
                <a:ea typeface="Arial" panose="020B0604020202020204" pitchFamily="34" charset="-122"/>
                <a:cs typeface="Arial" panose="020B0604020202020204" pitchFamily="34" charset="-120"/>
              </a:rPr>
              <a:t>£152,000</a:t>
            </a:r>
            <a:endParaRPr lang="en-US" sz="1800" dirty="0"/>
          </a:p>
        </p:txBody>
      </p:sp>
      <p:sp>
        <p:nvSpPr>
          <p:cNvPr id="12" name="Text 10"/>
          <p:cNvSpPr/>
          <p:nvPr/>
        </p:nvSpPr>
        <p:spPr>
          <a:xfrm>
            <a:off x="838200" y="3074035"/>
            <a:ext cx="7616825" cy="234950"/>
          </a:xfrm>
          <a:prstGeom prst="rect">
            <a:avLst/>
          </a:prstGeom>
          <a:noFill/>
        </p:spPr>
        <p:txBody>
          <a:bodyPr wrap="square" lIns="0" tIns="0" rIns="0" bIns="0" rtlCol="0" anchor="t"/>
          <a:lstStyle/>
          <a:p>
            <a:pPr marL="0" indent="0">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Year 3 Revenue</a:t>
            </a:r>
            <a:endParaRPr lang="en-US" sz="1200" dirty="0"/>
          </a:p>
        </p:txBody>
      </p:sp>
      <p:sp>
        <p:nvSpPr>
          <p:cNvPr id="13" name="Text 11"/>
          <p:cNvSpPr/>
          <p:nvPr/>
        </p:nvSpPr>
        <p:spPr>
          <a:xfrm>
            <a:off x="609600" y="4189730"/>
            <a:ext cx="8083550" cy="400050"/>
          </a:xfrm>
          <a:prstGeom prst="rect">
            <a:avLst/>
          </a:prstGeom>
          <a:noFill/>
        </p:spPr>
        <p:txBody>
          <a:bodyPr wrap="square" lIns="0" tIns="0" rIns="0" bIns="0" rtlCol="0" anchor="t"/>
          <a:lstStyle/>
          <a:p>
            <a:pPr marL="0" indent="0">
              <a:lnSpc>
                <a:spcPts val="1890"/>
              </a:lnSpc>
              <a:buNone/>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Profitability from Year 2 | Grant funding target: £125,000+</a:t>
            </a:r>
            <a:endParaRPr lang="en-US" sz="1350" dirty="0"/>
          </a:p>
        </p:txBody>
      </p:sp>
      <p:sp>
        <p:nvSpPr>
          <p:cNvPr id="14" name="Text 12"/>
          <p:cNvSpPr/>
          <p:nvPr/>
        </p:nvSpPr>
        <p:spPr>
          <a:xfrm>
            <a:off x="660400" y="3517900"/>
            <a:ext cx="8293100" cy="883285"/>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Conservative projections show 210% growth Year 1→2, then 74% Year 2→3. Year 1 deficit covered by grant funding pipeline (£125K+ target across Innovate UK, UKSPF, WECA, National Lottery). Profitability achieved Year 2 through optimized operations and digital scale.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072105"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Company Details</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Legal Structure</a:t>
            </a:r>
            <a:endParaRPr lang="en-US" sz="2700" dirty="0"/>
          </a:p>
        </p:txBody>
      </p:sp>
      <p:sp>
        <p:nvSpPr>
          <p:cNvPr id="4" name="Text 2"/>
          <p:cNvSpPr/>
          <p:nvPr/>
        </p:nvSpPr>
        <p:spPr>
          <a:xfrm>
            <a:off x="914400" y="1935480"/>
            <a:ext cx="7620000" cy="242316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Registered Name:</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GREEN AFRICA HUB LTD</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Company Number:</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17107299</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Incorporated:</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21 March 2026</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Jurisdiction:</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England &amp; Wales</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Website:</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greenafricahub.co.uk | greenafricahub.org</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Contact:</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gracetuase@gmail.com | +44 7776 643169</a:t>
            </a:r>
            <a:endParaRPr lang="en-US" sz="1350" dirty="0"/>
          </a:p>
        </p:txBody>
      </p:sp>
      <p:sp>
        <p:nvSpPr>
          <p:cNvPr id="5" name="Text 3"/>
          <p:cNvSpPr/>
          <p:nvPr/>
        </p:nvSpPr>
        <p:spPr>
          <a:xfrm>
            <a:off x="190500" y="4408170"/>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Legally incorporated 21 March 2026 as private limited company. Dual web presence (.co.uk for commercial, .org for community). SIC codes span environmental consulting, technical services, cultural education, and catering — reflecting hybrid business model.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704981"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Leadership</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Grace Omotuase — Founder &amp; CEO</a:t>
            </a:r>
            <a:endParaRPr lang="en-US" sz="2700" dirty="0"/>
          </a:p>
        </p:txBody>
      </p:sp>
      <p:sp>
        <p:nvSpPr>
          <p:cNvPr id="4" name="Text 2"/>
          <p:cNvSpPr/>
          <p:nvPr/>
        </p:nvSpPr>
        <p:spPr>
          <a:xfrm>
            <a:off x="609600" y="1935480"/>
            <a:ext cx="8083296" cy="240030"/>
          </a:xfrm>
          <a:prstGeom prst="rect">
            <a:avLst/>
          </a:prstGeom>
          <a:noFill/>
        </p:spPr>
        <p:txBody>
          <a:bodyPr wrap="square" lIns="0" tIns="0" rIns="0" bIns="0" rtlCol="0" anchor="t"/>
          <a:lstStyle/>
          <a:p>
            <a:pPr marL="0" indent="0">
              <a:lnSpc>
                <a:spcPts val="1890"/>
              </a:lnSpc>
              <a:buNone/>
            </a:pPr>
            <a:r>
              <a:rPr lang="en-US" sz="1350" dirty="0">
                <a:solidFill>
                  <a:srgbClr val="10B981"/>
                </a:solidFill>
                <a:latin typeface="Arial" panose="020B0604020202020204" pitchFamily="34" charset="0"/>
                <a:ea typeface="Arial" panose="020B0604020202020204" pitchFamily="34" charset="-122"/>
                <a:cs typeface="Arial" panose="020B0604020202020204" pitchFamily="34" charset="-120"/>
              </a:rPr>
              <a:t>Chartered Manager | MSc FinTech | Data Scientist</a:t>
            </a:r>
            <a:endParaRPr lang="en-US" sz="1350" dirty="0"/>
          </a:p>
        </p:txBody>
      </p:sp>
      <p:sp>
        <p:nvSpPr>
          <p:cNvPr id="5" name="Text 3"/>
          <p:cNvSpPr/>
          <p:nvPr/>
        </p:nvSpPr>
        <p:spPr>
          <a:xfrm>
            <a:off x="914400" y="2327911"/>
            <a:ext cx="7620000" cy="1440180"/>
          </a:xfrm>
          <a:prstGeom prst="rect">
            <a:avLst/>
          </a:prstGeom>
          <a:noFill/>
        </p:spPr>
        <p:txBody>
          <a:bodyPr wrap="square" lIns="0" tIns="0" rIns="0" bIns="0" rtlCol="0" anchor="t"/>
          <a:lstStyle/>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14 years financial leadership (Central Bank of Nigeria)</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MSc Financial Technology, Data Science certification</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Professional Cookery qualification</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CIMA Management Level, IBM AI Fundamentals</a:t>
            </a:r>
            <a:endParaRPr lang="en-US" sz="1200" dirty="0"/>
          </a:p>
        </p:txBody>
      </p:sp>
      <p:sp>
        <p:nvSpPr>
          <p:cNvPr id="6" name="Text 4"/>
          <p:cNvSpPr/>
          <p:nvPr/>
        </p:nvSpPr>
        <p:spPr>
          <a:xfrm>
            <a:off x="190500" y="4408170"/>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Founder brings rare combination: financial leadership (£300M+ programmes), technical AI/data science skills (Python, Power BI), and professional culinary training. Chartered Manager status demonstrates business management competence. Lived cultural experience ensures authentic recipe adaptation.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204236"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Problem Statement</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The Challenge</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Rising Energy Costs: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Gas bills 40% higher than 2021</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High Carbon Footprint:</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78% still use gas cooking</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Green Tech Exclusion:</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90% lack access to solutions</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Regulatory Pressure:</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Net Zero 2030 compliance gap</a:t>
            </a:r>
            <a:endParaRPr lang="en-US" sz="1350" dirty="0"/>
          </a:p>
        </p:txBody>
      </p:sp>
      <p:sp>
        <p:nvSpPr>
          <p:cNvPr id="5" name="Text 3"/>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Problem validated through community research. African/Caribbean households pay £2,400–£3,200 annual energy (40% above national average) due to gas-intensive traditional cooking. Cultural perception barrier: many believe induction cannot replicate traditional methods. We bridge this trust gap.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2011682"/>
            <a:ext cx="7924800" cy="102108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3032759"/>
            <a:ext cx="7924800" cy="102108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4" name="Text 2"/>
          <p:cNvSpPr/>
          <p:nvPr/>
        </p:nvSpPr>
        <p:spPr>
          <a:xfrm>
            <a:off x="609600" y="4053841"/>
            <a:ext cx="7924800" cy="102108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5" name="Text 3"/>
          <p:cNvSpPr/>
          <p:nvPr/>
        </p:nvSpPr>
        <p:spPr>
          <a:xfrm>
            <a:off x="904875" y="142875"/>
            <a:ext cx="1218688"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Market Opportunity</a:t>
            </a:r>
            <a:endParaRPr lang="en-US" sz="1020" dirty="0"/>
          </a:p>
        </p:txBody>
      </p:sp>
      <p:sp>
        <p:nvSpPr>
          <p:cNvPr id="6" name="Text 4"/>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Market Size</a:t>
            </a:r>
            <a:endParaRPr lang="en-US" sz="2700" dirty="0"/>
          </a:p>
        </p:txBody>
      </p:sp>
      <p:sp>
        <p:nvSpPr>
          <p:cNvPr id="7" name="Text 5"/>
          <p:cNvSpPr/>
          <p:nvPr/>
        </p:nvSpPr>
        <p:spPr>
          <a:xfrm>
            <a:off x="838200" y="2240282"/>
            <a:ext cx="7616952" cy="274320"/>
          </a:xfrm>
          <a:prstGeom prst="rect">
            <a:avLst/>
          </a:prstGeom>
          <a:noFill/>
        </p:spPr>
        <p:txBody>
          <a:bodyPr wrap="square" lIns="0" tIns="0" rIns="0" bIns="0" rtlCol="0" anchor="t"/>
          <a:lstStyle/>
          <a:p>
            <a:pPr marL="0" indent="0">
              <a:lnSpc>
                <a:spcPts val="2160"/>
              </a:lnSpc>
              <a:buNone/>
            </a:pPr>
            <a:r>
              <a:rPr lang="en-US" sz="1800" b="1" dirty="0">
                <a:solidFill>
                  <a:srgbClr val="10B981"/>
                </a:solidFill>
                <a:latin typeface="Arial" panose="020B0604020202020204" pitchFamily="34" charset="0"/>
                <a:ea typeface="Arial" panose="020B0604020202020204" pitchFamily="34" charset="-122"/>
                <a:cs typeface="Arial" panose="020B0604020202020204" pitchFamily="34" charset="-120"/>
              </a:rPr>
              <a:t>1.5M</a:t>
            </a:r>
            <a:endParaRPr lang="en-US" sz="1800" dirty="0"/>
          </a:p>
        </p:txBody>
      </p:sp>
      <p:sp>
        <p:nvSpPr>
          <p:cNvPr id="8" name="Text 6"/>
          <p:cNvSpPr/>
          <p:nvPr/>
        </p:nvSpPr>
        <p:spPr>
          <a:xfrm>
            <a:off x="838200" y="2590800"/>
            <a:ext cx="7616952" cy="213360"/>
          </a:xfrm>
          <a:prstGeom prst="rect">
            <a:avLst/>
          </a:prstGeom>
          <a:noFill/>
        </p:spPr>
        <p:txBody>
          <a:bodyPr wrap="square" lIns="0" tIns="0" rIns="0" bIns="0" rtlCol="0" anchor="t"/>
          <a:lstStyle/>
          <a:p>
            <a:pPr marL="0" indent="0">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UK African &amp; Caribbean population</a:t>
            </a:r>
            <a:endParaRPr lang="en-US" sz="1200" dirty="0"/>
          </a:p>
        </p:txBody>
      </p:sp>
      <p:sp>
        <p:nvSpPr>
          <p:cNvPr id="9" name="Text 7"/>
          <p:cNvSpPr/>
          <p:nvPr/>
        </p:nvSpPr>
        <p:spPr>
          <a:xfrm>
            <a:off x="838200" y="3261359"/>
            <a:ext cx="7616952" cy="274320"/>
          </a:xfrm>
          <a:prstGeom prst="rect">
            <a:avLst/>
          </a:prstGeom>
          <a:noFill/>
        </p:spPr>
        <p:txBody>
          <a:bodyPr wrap="square" lIns="0" tIns="0" rIns="0" bIns="0" rtlCol="0" anchor="t"/>
          <a:lstStyle/>
          <a:p>
            <a:pPr marL="0" indent="0">
              <a:lnSpc>
                <a:spcPts val="2160"/>
              </a:lnSpc>
              <a:buNone/>
            </a:pPr>
            <a:r>
              <a:rPr lang="en-US" sz="1800" b="1" dirty="0">
                <a:solidFill>
                  <a:srgbClr val="10B981"/>
                </a:solidFill>
                <a:latin typeface="Arial" panose="020B0604020202020204" pitchFamily="34" charset="0"/>
                <a:ea typeface="Arial" panose="020B0604020202020204" pitchFamily="34" charset="-122"/>
                <a:cs typeface="Arial" panose="020B0604020202020204" pitchFamily="34" charset="-120"/>
              </a:rPr>
              <a:t>500,000</a:t>
            </a:r>
            <a:endParaRPr lang="en-US" sz="1800" dirty="0"/>
          </a:p>
        </p:txBody>
      </p:sp>
      <p:sp>
        <p:nvSpPr>
          <p:cNvPr id="10" name="Text 8"/>
          <p:cNvSpPr/>
          <p:nvPr/>
        </p:nvSpPr>
        <p:spPr>
          <a:xfrm>
            <a:off x="838200" y="3611882"/>
            <a:ext cx="7616952" cy="213360"/>
          </a:xfrm>
          <a:prstGeom prst="rect">
            <a:avLst/>
          </a:prstGeom>
          <a:noFill/>
        </p:spPr>
        <p:txBody>
          <a:bodyPr wrap="square" lIns="0" tIns="0" rIns="0" bIns="0" rtlCol="0" anchor="t"/>
          <a:lstStyle/>
          <a:p>
            <a:pPr marL="0" indent="0">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Households</a:t>
            </a:r>
            <a:endParaRPr lang="en-US" sz="1200" dirty="0"/>
          </a:p>
        </p:txBody>
      </p:sp>
      <p:sp>
        <p:nvSpPr>
          <p:cNvPr id="11" name="Text 9"/>
          <p:cNvSpPr/>
          <p:nvPr/>
        </p:nvSpPr>
        <p:spPr>
          <a:xfrm>
            <a:off x="838200" y="4282441"/>
            <a:ext cx="7616952" cy="274320"/>
          </a:xfrm>
          <a:prstGeom prst="rect">
            <a:avLst/>
          </a:prstGeom>
          <a:noFill/>
        </p:spPr>
        <p:txBody>
          <a:bodyPr wrap="square" lIns="0" tIns="0" rIns="0" bIns="0" rtlCol="0" anchor="t"/>
          <a:lstStyle/>
          <a:p>
            <a:pPr marL="0" indent="0">
              <a:lnSpc>
                <a:spcPts val="2160"/>
              </a:lnSpc>
              <a:buNone/>
            </a:pPr>
            <a:r>
              <a:rPr lang="en-US" sz="1800" b="1" dirty="0">
                <a:solidFill>
                  <a:srgbClr val="10B981"/>
                </a:solidFill>
                <a:latin typeface="Arial" panose="020B0604020202020204" pitchFamily="34" charset="0"/>
                <a:ea typeface="Arial" panose="020B0604020202020204" pitchFamily="34" charset="-122"/>
                <a:cs typeface="Arial" panose="020B0604020202020204" pitchFamily="34" charset="-120"/>
              </a:rPr>
              <a:t>75,000+</a:t>
            </a:r>
            <a:endParaRPr lang="en-US" sz="1800" dirty="0"/>
          </a:p>
        </p:txBody>
      </p:sp>
      <p:sp>
        <p:nvSpPr>
          <p:cNvPr id="12" name="Text 10"/>
          <p:cNvSpPr/>
          <p:nvPr/>
        </p:nvSpPr>
        <p:spPr>
          <a:xfrm>
            <a:off x="838200" y="4632959"/>
            <a:ext cx="7616952" cy="213360"/>
          </a:xfrm>
          <a:prstGeom prst="rect">
            <a:avLst/>
          </a:prstGeom>
          <a:noFill/>
        </p:spPr>
        <p:txBody>
          <a:bodyPr wrap="square" lIns="0" tIns="0" rIns="0" bIns="0" rtlCol="0" anchor="t"/>
          <a:lstStyle/>
          <a:p>
            <a:pPr marL="0" indent="0">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Addressable fuel-poor households</a:t>
            </a:r>
            <a:endParaRPr lang="en-US" sz="1200" dirty="0"/>
          </a:p>
        </p:txBody>
      </p:sp>
      <p:sp>
        <p:nvSpPr>
          <p:cNvPr id="13" name="Text 11"/>
          <p:cNvSpPr/>
          <p:nvPr/>
        </p:nvSpPr>
        <p:spPr>
          <a:xfrm>
            <a:off x="609600" y="5303523"/>
            <a:ext cx="8083296" cy="266700"/>
          </a:xfrm>
          <a:prstGeom prst="rect">
            <a:avLst/>
          </a:prstGeom>
          <a:noFill/>
        </p:spPr>
        <p:txBody>
          <a:bodyPr wrap="square" lIns="0" tIns="0" rIns="0" bIns="0" rtlCol="0" anchor="t"/>
          <a:lstStyle/>
          <a:p>
            <a:pPr marL="0" indent="0">
              <a:lnSpc>
                <a:spcPts val="2100"/>
              </a:lnSpc>
              <a:buNone/>
            </a:pPr>
            <a:r>
              <a:rPr lang="en-US" sz="1500" dirty="0">
                <a:solidFill>
                  <a:srgbClr val="38BDF8"/>
                </a:solidFill>
                <a:latin typeface="Arial" panose="020B0604020202020204" pitchFamily="34" charset="0"/>
                <a:ea typeface="Arial" panose="020B0604020202020204" pitchFamily="34" charset="-122"/>
                <a:cs typeface="Arial" panose="020B0604020202020204" pitchFamily="34" charset="-120"/>
              </a:rPr>
              <a:t>£56 million appliance market opportunity</a:t>
            </a:r>
            <a:endParaRPr lang="en-US" sz="1500" dirty="0"/>
          </a:p>
        </p:txBody>
      </p:sp>
      <p:sp>
        <p:nvSpPr>
          <p:cNvPr id="14" name="Text 12"/>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Primary market: 1.5M UK African/Caribbean population (2021 Census). 25–30% fuel poverty rate vs 13% national. Addressable: 75,000 households actively seeking solutions. Secondary: institutional buyers (schools, NHS, councils) for Net Zero programmes. £56M appliance TAM (75K households × £750 average equipment).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866623"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Proprietary IP</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Smart-Prep Methodology™</a:t>
            </a:r>
            <a:endParaRPr lang="en-US" sz="2700" dirty="0"/>
          </a:p>
        </p:txBody>
      </p:sp>
      <p:sp>
        <p:nvSpPr>
          <p:cNvPr id="4" name="Text 2"/>
          <p:cNvSpPr/>
          <p:nvPr/>
        </p:nvSpPr>
        <p:spPr>
          <a:xfrm>
            <a:off x="609600" y="1935482"/>
            <a:ext cx="8083296" cy="240030"/>
          </a:xfrm>
          <a:prstGeom prst="rect">
            <a:avLst/>
          </a:prstGeom>
          <a:noFill/>
        </p:spPr>
        <p:txBody>
          <a:bodyPr wrap="square" lIns="0" tIns="0" rIns="0" bIns="0" rtlCol="0" anchor="t"/>
          <a:lstStyle/>
          <a:p>
            <a:pPr marL="0" indent="0">
              <a:lnSpc>
                <a:spcPts val="1890"/>
              </a:lnSpc>
              <a:buNone/>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Proprietary system adapting traditional recipes for energy-efficient cooking</a:t>
            </a:r>
            <a:endParaRPr lang="en-US" sz="1350" dirty="0"/>
          </a:p>
        </p:txBody>
      </p:sp>
      <p:sp>
        <p:nvSpPr>
          <p:cNvPr id="5" name="Text 3"/>
          <p:cNvSpPr/>
          <p:nvPr/>
        </p:nvSpPr>
        <p:spPr>
          <a:xfrm>
            <a:off x="914400" y="2327909"/>
            <a:ext cx="7620000" cy="1440180"/>
          </a:xfrm>
          <a:prstGeom prst="rect">
            <a:avLst/>
          </a:prstGeom>
          <a:noFill/>
        </p:spPr>
        <p:txBody>
          <a:bodyPr wrap="square" lIns="0" tIns="0" rIns="0" bIns="0" rtlCol="0" anchor="t"/>
          <a:lstStyle/>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11 fully tested recipes completed</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40+ recipes in development pipeline</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Carbon accounting validated (DEFRA 2025)</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Trademark application in preparation (Q2 2026)</a:t>
            </a:r>
            <a:endParaRPr lang="en-US" sz="1200" dirty="0"/>
          </a:p>
        </p:txBody>
      </p:sp>
      <p:sp>
        <p:nvSpPr>
          <p:cNvPr id="6" name="Text 4"/>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Smart-Prep™ is core proprietary IP. Systematic recipe re-engineering for Magimix Cook Expert (temperature precision, slow-stir automation). Includes UK ingredient substitutions, carbon/nutrition data, allergen info. 11 recipes validated, 40+ pipeline. Trademark filing Q2 2026 (Classes 41, 42, 43). Copyright automatic from creation.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436315"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Technology Innovation</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AI Carbon Tracking Dashboard</a:t>
            </a:r>
            <a:endParaRPr lang="en-US" sz="2700" dirty="0"/>
          </a:p>
        </p:txBody>
      </p:sp>
      <p:sp>
        <p:nvSpPr>
          <p:cNvPr id="4" name="Text 2"/>
          <p:cNvSpPr/>
          <p:nvPr/>
        </p:nvSpPr>
        <p:spPr>
          <a:xfrm>
            <a:off x="609600" y="1935482"/>
            <a:ext cx="8083296" cy="240030"/>
          </a:xfrm>
          <a:prstGeom prst="rect">
            <a:avLst/>
          </a:prstGeom>
          <a:noFill/>
        </p:spPr>
        <p:txBody>
          <a:bodyPr wrap="square" lIns="0" tIns="0" rIns="0" bIns="0" rtlCol="0" anchor="t"/>
          <a:lstStyle/>
          <a:p>
            <a:pPr marL="0" indent="0">
              <a:lnSpc>
                <a:spcPts val="1890"/>
              </a:lnSpc>
              <a:buNone/>
            </a:pPr>
            <a:r>
              <a:rPr lang="en-US" sz="1350" dirty="0">
                <a:solidFill>
                  <a:srgbClr val="10B981"/>
                </a:solidFill>
                <a:latin typeface="Arial" panose="020B0604020202020204" pitchFamily="34" charset="0"/>
                <a:ea typeface="Arial" panose="020B0604020202020204" pitchFamily="34" charset="-122"/>
                <a:cs typeface="Arial" panose="020B0604020202020204" pitchFamily="34" charset="-120"/>
              </a:rPr>
              <a:t>UK's first AI carbon tracker for African/Caribbean cooking</a:t>
            </a:r>
            <a:endParaRPr lang="en-US" sz="1350" dirty="0"/>
          </a:p>
        </p:txBody>
      </p:sp>
      <p:sp>
        <p:nvSpPr>
          <p:cNvPr id="5" name="Text 3"/>
          <p:cNvSpPr/>
          <p:nvPr/>
        </p:nvSpPr>
        <p:spPr>
          <a:xfrm>
            <a:off x="914400" y="2327909"/>
            <a:ext cx="7620000" cy="1440180"/>
          </a:xfrm>
          <a:prstGeom prst="rect">
            <a:avLst/>
          </a:prstGeom>
          <a:noFill/>
        </p:spPr>
        <p:txBody>
          <a:bodyPr wrap="square" lIns="0" tIns="0" rIns="0" bIns="0" rtlCol="0" anchor="t"/>
          <a:lstStyle/>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Built with Python, Scikit-learn, Power BI</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Real-time emissions tracking per recipe</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AI-generated lower-carbon alternatives</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SaaS product development planned (Year 3)</a:t>
            </a:r>
            <a:endParaRPr lang="en-US" sz="1200" dirty="0"/>
          </a:p>
        </p:txBody>
      </p:sp>
      <p:sp>
        <p:nvSpPr>
          <p:cNvPr id="6" name="Text 4"/>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Technical innovation differentiator. Maps recipe ingredients/cooking method to emissions using DEFRA 2025 factors. AI recommendation engine suggests culturally appropriate lower-carbon swaps. Prototype functional; Year 1 pilot with 50 households validates model. Year 3 SaaS packaging targets 100,000+ UK food businesses needing Scope 3 reporting.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021221"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Service Delivery</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Smart Kitchen Hub</a:t>
            </a:r>
            <a:endParaRPr lang="en-US" sz="2700" dirty="0"/>
          </a:p>
        </p:txBody>
      </p:sp>
      <p:sp>
        <p:nvSpPr>
          <p:cNvPr id="4" name="Text 2"/>
          <p:cNvSpPr/>
          <p:nvPr/>
        </p:nvSpPr>
        <p:spPr>
          <a:xfrm>
            <a:off x="609600" y="1935482"/>
            <a:ext cx="8083296" cy="240030"/>
          </a:xfrm>
          <a:prstGeom prst="rect">
            <a:avLst/>
          </a:prstGeom>
          <a:noFill/>
        </p:spPr>
        <p:txBody>
          <a:bodyPr wrap="square" lIns="0" tIns="0" rIns="0" bIns="0" rtlCol="0" anchor="t"/>
          <a:lstStyle/>
          <a:p>
            <a:pPr marL="0" indent="0">
              <a:lnSpc>
                <a:spcPts val="1890"/>
              </a:lnSpc>
              <a:buNone/>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Shared induction-based professional kitchen in Bristol</a:t>
            </a:r>
            <a:endParaRPr lang="en-US" sz="1350" dirty="0"/>
          </a:p>
        </p:txBody>
      </p:sp>
      <p:sp>
        <p:nvSpPr>
          <p:cNvPr id="5" name="Text 3"/>
          <p:cNvSpPr/>
          <p:nvPr/>
        </p:nvSpPr>
        <p:spPr>
          <a:xfrm>
            <a:off x="914400" y="2327909"/>
            <a:ext cx="7620000" cy="1440180"/>
          </a:xfrm>
          <a:prstGeom prst="rect">
            <a:avLst/>
          </a:prstGeom>
          <a:noFill/>
        </p:spPr>
        <p:txBody>
          <a:bodyPr wrap="square" lIns="0" tIns="0" rIns="0" bIns="0" rtlCol="0" anchor="t"/>
          <a:lstStyle/>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Partnership with Future Leap (WECA-funded) ✓</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In-person cooking + sustainability education</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Session-by-session carbon tracking</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Food safety &amp; allergen training</a:t>
            </a:r>
            <a:endParaRPr lang="en-US" sz="1200" dirty="0"/>
          </a:p>
        </p:txBody>
      </p:sp>
      <p:sp>
        <p:nvSpPr>
          <p:cNvPr id="6" name="Text 4"/>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Physical hub provides hands-on access to induction equipment. Future Leap partnership (WECA-funded) provides 6-month facility access, reducing Year 1 capital needs. Hub combines cooking skills training, sustainability education, live carbon tracking. Permanent Bristol location secured Q3–Q4 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2011682"/>
            <a:ext cx="7924800" cy="1121569"/>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3133251"/>
            <a:ext cx="7924800" cy="1121569"/>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4" name="Text 2"/>
          <p:cNvSpPr/>
          <p:nvPr/>
        </p:nvSpPr>
        <p:spPr>
          <a:xfrm>
            <a:off x="904875" y="142875"/>
            <a:ext cx="1219052"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Scalability Strategy</a:t>
            </a:r>
            <a:endParaRPr lang="en-US" sz="1020" dirty="0"/>
          </a:p>
        </p:txBody>
      </p:sp>
      <p:sp>
        <p:nvSpPr>
          <p:cNvPr id="5" name="Text 3"/>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Hub &amp; Spoke Scalability</a:t>
            </a:r>
            <a:endParaRPr lang="en-US" sz="2700" dirty="0"/>
          </a:p>
        </p:txBody>
      </p:sp>
      <p:sp>
        <p:nvSpPr>
          <p:cNvPr id="6" name="Text 4"/>
          <p:cNvSpPr/>
          <p:nvPr/>
        </p:nvSpPr>
        <p:spPr>
          <a:xfrm>
            <a:off x="838200" y="2240282"/>
            <a:ext cx="7616952" cy="320040"/>
          </a:xfrm>
          <a:prstGeom prst="rect">
            <a:avLst/>
          </a:prstGeom>
          <a:noFill/>
        </p:spPr>
        <p:txBody>
          <a:bodyPr wrap="square" lIns="0" tIns="0" rIns="0" bIns="0" rtlCol="0" anchor="t"/>
          <a:lstStyle/>
          <a:p>
            <a:pPr marL="0" indent="0">
              <a:lnSpc>
                <a:spcPts val="2520"/>
              </a:lnSpc>
              <a:buNone/>
            </a:pPr>
            <a:r>
              <a:rPr lang="en-US" sz="2100" b="1" dirty="0">
                <a:solidFill>
                  <a:srgbClr val="10B981"/>
                </a:solidFill>
                <a:latin typeface="Arial" panose="020B0604020202020204" pitchFamily="34" charset="0"/>
                <a:ea typeface="Arial" panose="020B0604020202020204" pitchFamily="34" charset="-122"/>
                <a:cs typeface="Arial" panose="020B0604020202020204" pitchFamily="34" charset="-120"/>
              </a:rPr>
              <a:t>Hub (Bristol)</a:t>
            </a:r>
            <a:endParaRPr lang="en-US" sz="2100" dirty="0"/>
          </a:p>
        </p:txBody>
      </p:sp>
      <p:sp>
        <p:nvSpPr>
          <p:cNvPr id="7" name="Text 5"/>
          <p:cNvSpPr/>
          <p:nvPr/>
        </p:nvSpPr>
        <p:spPr>
          <a:xfrm>
            <a:off x="838200" y="2712723"/>
            <a:ext cx="7616952" cy="191929"/>
          </a:xfrm>
          <a:prstGeom prst="rect">
            <a:avLst/>
          </a:prstGeom>
          <a:noFill/>
        </p:spPr>
        <p:txBody>
          <a:bodyPr wrap="square" lIns="0" tIns="0" rIns="0" bIns="0" rtlCol="0" anchor="t"/>
          <a:lstStyle/>
          <a:p>
            <a:pPr marL="0" indent="0">
              <a:lnSpc>
                <a:spcPts val="1510"/>
              </a:lnSpc>
              <a:buNone/>
            </a:pPr>
            <a:r>
              <a:rPr lang="en-US" sz="1080" dirty="0">
                <a:solidFill>
                  <a:srgbClr val="CBD5E1"/>
                </a:solidFill>
                <a:latin typeface="Arial" panose="020B0604020202020204" pitchFamily="34" charset="0"/>
                <a:ea typeface="Arial" panose="020B0604020202020204" pitchFamily="34" charset="-122"/>
                <a:cs typeface="Arial" panose="020B0604020202020204" pitchFamily="34" charset="-120"/>
              </a:rPr>
              <a:t>Centralised R&amp;D, content creation, quality assurance</a:t>
            </a:r>
            <a:endParaRPr lang="en-US" sz="1080" dirty="0"/>
          </a:p>
        </p:txBody>
      </p:sp>
      <p:sp>
        <p:nvSpPr>
          <p:cNvPr id="8" name="Text 6"/>
          <p:cNvSpPr/>
          <p:nvPr/>
        </p:nvSpPr>
        <p:spPr>
          <a:xfrm>
            <a:off x="838200" y="3361851"/>
            <a:ext cx="7616952" cy="320040"/>
          </a:xfrm>
          <a:prstGeom prst="rect">
            <a:avLst/>
          </a:prstGeom>
          <a:noFill/>
        </p:spPr>
        <p:txBody>
          <a:bodyPr wrap="square" lIns="0" tIns="0" rIns="0" bIns="0" rtlCol="0" anchor="t"/>
          <a:lstStyle/>
          <a:p>
            <a:pPr marL="0" indent="0">
              <a:lnSpc>
                <a:spcPts val="2520"/>
              </a:lnSpc>
              <a:buNone/>
            </a:pPr>
            <a:r>
              <a:rPr lang="en-US" sz="2100" b="1" dirty="0">
                <a:solidFill>
                  <a:srgbClr val="10B981"/>
                </a:solidFill>
                <a:latin typeface="Arial" panose="020B0604020202020204" pitchFamily="34" charset="0"/>
                <a:ea typeface="Arial" panose="020B0604020202020204" pitchFamily="34" charset="-122"/>
                <a:cs typeface="Arial" panose="020B0604020202020204" pitchFamily="34" charset="-120"/>
              </a:rPr>
              <a:t>Spokes (UK Cities)</a:t>
            </a:r>
            <a:endParaRPr lang="en-US" sz="2100" dirty="0"/>
          </a:p>
        </p:txBody>
      </p:sp>
      <p:sp>
        <p:nvSpPr>
          <p:cNvPr id="9" name="Text 7"/>
          <p:cNvSpPr/>
          <p:nvPr/>
        </p:nvSpPr>
        <p:spPr>
          <a:xfrm>
            <a:off x="838200" y="3834292"/>
            <a:ext cx="7616952" cy="191929"/>
          </a:xfrm>
          <a:prstGeom prst="rect">
            <a:avLst/>
          </a:prstGeom>
          <a:noFill/>
        </p:spPr>
        <p:txBody>
          <a:bodyPr wrap="square" lIns="0" tIns="0" rIns="0" bIns="0" rtlCol="0" anchor="t"/>
          <a:lstStyle/>
          <a:p>
            <a:pPr marL="0" indent="0">
              <a:lnSpc>
                <a:spcPts val="1510"/>
              </a:lnSpc>
              <a:buNone/>
            </a:pPr>
            <a:r>
              <a:rPr lang="en-US" sz="1080" dirty="0">
                <a:solidFill>
                  <a:srgbClr val="CBD5E1"/>
                </a:solidFill>
                <a:latin typeface="Arial" panose="020B0604020202020204" pitchFamily="34" charset="0"/>
                <a:ea typeface="Arial" panose="020B0604020202020204" pitchFamily="34" charset="-122"/>
                <a:cs typeface="Arial" panose="020B0604020202020204" pitchFamily="34" charset="-120"/>
              </a:rPr>
              <a:t>Licensed local delivery, community engagement</a:t>
            </a:r>
            <a:endParaRPr lang="en-US" sz="1080" dirty="0"/>
          </a:p>
        </p:txBody>
      </p:sp>
      <p:sp>
        <p:nvSpPr>
          <p:cNvPr id="10" name="Text 8"/>
          <p:cNvSpPr/>
          <p:nvPr/>
        </p:nvSpPr>
        <p:spPr>
          <a:xfrm>
            <a:off x="609600" y="4483419"/>
            <a:ext cx="8083296" cy="240030"/>
          </a:xfrm>
          <a:prstGeom prst="rect">
            <a:avLst/>
          </a:prstGeom>
          <a:noFill/>
        </p:spPr>
        <p:txBody>
          <a:bodyPr wrap="square" lIns="0" tIns="0" rIns="0" bIns="0" rtlCol="0" anchor="t"/>
          <a:lstStyle/>
          <a:p>
            <a:pPr marL="0" indent="0">
              <a:lnSpc>
                <a:spcPts val="1890"/>
              </a:lnSpc>
              <a:buNone/>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Replicable across 10+ UK cities by Year 5</a:t>
            </a:r>
            <a:endParaRPr lang="en-US" sz="1350" dirty="0"/>
          </a:p>
        </p:txBody>
      </p:sp>
      <p:sp>
        <p:nvSpPr>
          <p:cNvPr id="11" name="Text 9"/>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Scalability model enabling national reach from single Bristol base. Hub provides centralized R&amp;D, content creation, quality assurance, supplier partnerships. Spokes deliver local training via certified facilitators using licensed digital platform. Birmingham and Manchester spokes launch Year 2. Target 10+ cities by Year 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005919"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Business Model</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Five Revenue Streams</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In-person sessions: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£10–£50 per session</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Digital subscriptions: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£10–£20/month</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Kitchen memberships: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£50–£100/month</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Equipment commissions: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10–15% per sale</a:t>
            </a:r>
            <a:endParaRPr lang="en-US" sz="1350" dirty="0"/>
          </a:p>
        </p:txBody>
      </p:sp>
      <p:sp>
        <p:nvSpPr>
          <p:cNvPr id="5" name="Text 3"/>
          <p:cNvSpPr/>
          <p:nvPr/>
        </p:nvSpPr>
        <p:spPr>
          <a:xfrm>
            <a:off x="190500" y="4408173"/>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Diversified revenue reduces dependency on single stream. In-person (cooking sessions) drives community engagement. Digital (subscriptions) scales nationally at near-zero marginal cost. Memberships provide recurring revenue from micro-caterers. Equipment commissions require no inventory. B2B consulting (£500–£2,500/event) serves institutions.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329080"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Financial Projections</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3-Year Revenue Forecast</a:t>
            </a:r>
            <a:endParaRPr lang="en-US" sz="2700" dirty="0"/>
          </a:p>
        </p:txBody>
      </p:sp>
      <p:sp>
        <p:nvSpPr>
          <p:cNvPr id="4" name="Text 2"/>
          <p:cNvSpPr/>
          <p:nvPr/>
        </p:nvSpPr>
        <p:spPr>
          <a:xfrm>
            <a:off x="914400" y="1935482"/>
            <a:ext cx="7620000" cy="1828800"/>
          </a:xfrm>
          <a:prstGeom prst="rect">
            <a:avLst/>
          </a:prstGeom>
          <a:noFill/>
        </p:spPr>
        <p:txBody>
          <a:bodyPr wrap="square" lIns="0" tIns="0" rIns="0" bIns="0" rtlCol="0" anchor="t"/>
          <a:lstStyle/>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In-person: £8.4K → £28.8K → £54K</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Digital: £7.2K → £28.8K → £57.6K</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Memberships: £6K → £18K → £24K</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Commissions: £2.6K → £6.5K → £10.4K</a:t>
            </a:r>
            <a:endParaRPr lang="en-US" sz="1200" dirty="0"/>
          </a:p>
          <a:p>
            <a:pPr marL="342900" indent="-342900">
              <a:lnSpc>
                <a:spcPts val="2160"/>
              </a:lnSpc>
              <a:buSzPct val="100000"/>
              <a:buChar char="•"/>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Events &amp; consulting: £4K → £5.4K → £6K</a:t>
            </a:r>
            <a:endParaRPr lang="en-US" sz="1200" dirty="0"/>
          </a:p>
        </p:txBody>
      </p:sp>
      <p:sp>
        <p:nvSpPr>
          <p:cNvPr id="5" name="Text 3"/>
          <p:cNvSpPr/>
          <p:nvPr/>
        </p:nvSpPr>
        <p:spPr>
          <a:xfrm>
            <a:off x="609600" y="3992882"/>
            <a:ext cx="8083296" cy="266700"/>
          </a:xfrm>
          <a:prstGeom prst="rect">
            <a:avLst/>
          </a:prstGeom>
          <a:noFill/>
        </p:spPr>
        <p:txBody>
          <a:bodyPr wrap="square" lIns="0" tIns="0" rIns="0" bIns="0" rtlCol="0" anchor="t"/>
          <a:lstStyle/>
          <a:p>
            <a:pPr marL="0" indent="0">
              <a:lnSpc>
                <a:spcPts val="2100"/>
              </a:lnSpc>
              <a:buNone/>
            </a:pPr>
            <a:r>
              <a:rPr lang="en-US" sz="1500" dirty="0">
                <a:solidFill>
                  <a:srgbClr val="10B981"/>
                </a:solidFill>
                <a:latin typeface="Arial" panose="020B0604020202020204" pitchFamily="34" charset="0"/>
                <a:ea typeface="Arial" panose="020B0604020202020204" pitchFamily="34" charset="-122"/>
                <a:cs typeface="Arial" panose="020B0604020202020204" pitchFamily="34" charset="-120"/>
              </a:rPr>
              <a:t>Total: £28.2K → £87.5K → £152K</a:t>
            </a:r>
            <a:endParaRPr lang="en-US" sz="1500" dirty="0"/>
          </a:p>
        </p:txBody>
      </p:sp>
      <p:sp>
        <p:nvSpPr>
          <p:cNvPr id="6" name="Text 4"/>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Three-year trajectory shows balanced growth across all streams. Digital subscriptions scale fastest (£7.2K → £57.6K). In-person sessions grow through Bristol maturity and spoke launches (£8.4K → £54K). Memberships provide stable recurring base. Commissions accelerate as equipment adoption grows. Events/consulting remain steady supplemental income.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064454"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Funding Pipeline</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Grant Funding Target: £125,000+</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Innovate UK: £20,000 (AI innovation)</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UKSPF: £10,000 (community impact)</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WECA Green Economy Fund: £8,000</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National Lottery: £7,500</a:t>
            </a:r>
            <a:endParaRPr lang="en-US" sz="1350" dirty="0"/>
          </a:p>
        </p:txBody>
      </p:sp>
      <p:sp>
        <p:nvSpPr>
          <p:cNvPr id="5" name="Text 3"/>
          <p:cNvSpPr/>
          <p:nvPr/>
        </p:nvSpPr>
        <p:spPr>
          <a:xfrm>
            <a:off x="609600" y="3741418"/>
            <a:ext cx="8083296" cy="213360"/>
          </a:xfrm>
          <a:prstGeom prst="rect">
            <a:avLst/>
          </a:prstGeom>
          <a:noFill/>
        </p:spPr>
        <p:txBody>
          <a:bodyPr wrap="square" lIns="0" tIns="0" rIns="0" bIns="0" rtlCol="0" anchor="t"/>
          <a:lstStyle/>
          <a:p>
            <a:pPr marL="0" indent="0">
              <a:lnSpc>
                <a:spcPts val="1680"/>
              </a:lnSpc>
              <a:buNone/>
            </a:pPr>
            <a:r>
              <a:rPr lang="en-US" sz="1200" dirty="0">
                <a:solidFill>
                  <a:srgbClr val="10B981"/>
                </a:solidFill>
                <a:latin typeface="Arial" panose="020B0604020202020204" pitchFamily="34" charset="0"/>
                <a:ea typeface="Arial" panose="020B0604020202020204" pitchFamily="34" charset="-122"/>
                <a:cs typeface="Arial" panose="020B0604020202020204" pitchFamily="34" charset="-120"/>
              </a:rPr>
              <a:t>Applications staggered Q2–Q3 2026</a:t>
            </a:r>
            <a:endParaRPr lang="en-US" sz="1200" dirty="0"/>
          </a:p>
        </p:txBody>
      </p:sp>
      <p:sp>
        <p:nvSpPr>
          <p:cNvPr id="6" name="Text 4"/>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Grant pipeline targets £125K+ to cover Year 1 deficit and accelerate growth. Innovate UK (£20K) for AI dashboard innovation. UKSPF (£10K) for community sustainability. WECA Green Economy Fund (£8K) for Bristol green SME. National Lottery (£7.5K) for social impact. Staggered applications reduce dependency on single funder.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409962"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Strategic Partnerships</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Institutional Validation</a:t>
            </a:r>
            <a:endParaRPr lang="en-US" sz="2700" dirty="0"/>
          </a:p>
        </p:txBody>
      </p:sp>
      <p:sp>
        <p:nvSpPr>
          <p:cNvPr id="4" name="Text 2"/>
          <p:cNvSpPr/>
          <p:nvPr/>
        </p:nvSpPr>
        <p:spPr>
          <a:xfrm>
            <a:off x="914400" y="1935482"/>
            <a:ext cx="7620000" cy="157734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Future Leap Bristol:</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WECA-funded partner ✓</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North Bristol NHS Trust:</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Contact established ✓</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Cool Ventures: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Business support ✓</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CIMA / AICPA:</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Awards judge (Oct 2026) ✓</a:t>
            </a:r>
            <a:endParaRPr lang="en-US" sz="1350" dirty="0"/>
          </a:p>
        </p:txBody>
      </p:sp>
      <p:sp>
        <p:nvSpPr>
          <p:cNvPr id="5" name="Text 3"/>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Institutional partnerships provide validation, reduce capital needs, open customer routes. Future Leap (WECA-funded) provides 6-month facilities access. NHS contact (Southmead Hospital) opens pathway to community health programmes. Cool Ventures offers ongoing adviser support. CIMA/AICPA awards judging (SME/Digital Innovation) demonstrates credibility.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270302"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Intellectual Property</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Protected IP Assets</a:t>
            </a:r>
            <a:endParaRPr lang="en-US" sz="2700" dirty="0"/>
          </a:p>
        </p:txBody>
      </p:sp>
      <p:sp>
        <p:nvSpPr>
          <p:cNvPr id="4" name="Text 2"/>
          <p:cNvSpPr/>
          <p:nvPr/>
        </p:nvSpPr>
        <p:spPr>
          <a:xfrm>
            <a:off x="914400" y="1935482"/>
            <a:ext cx="7620000" cy="157734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Smart-Prep™:</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Trademark application Q2 2026</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Cookbook:</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Copyright protected (all rights reserved)</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AI algorithms:</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Trade secret (private repository)</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Brand &amp; logo:</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Trademark application Q2 2026</a:t>
            </a:r>
            <a:endParaRPr lang="en-US" sz="1350" dirty="0"/>
          </a:p>
        </p:txBody>
      </p:sp>
      <p:sp>
        <p:nvSpPr>
          <p:cNvPr id="5" name="Text 3"/>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IP strategy protects competitive advantage. Smart-Prep™ methodology and brand trademarked Q2 2026 (Classes 41, 42, 43). Cookbook recipes copyright-protected from creation. AI algorithms maintained as trade secrets (private GitHub, NDAs with partners). Licensing model for spokes maintains IP control and quality standards.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976408"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Implementation</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Year 1 Roadmap (2026)</a:t>
            </a:r>
            <a:endParaRPr lang="en-US" sz="2700" dirty="0"/>
          </a:p>
        </p:txBody>
      </p:sp>
      <p:sp>
        <p:nvSpPr>
          <p:cNvPr id="4" name="Text 2"/>
          <p:cNvSpPr/>
          <p:nvPr/>
        </p:nvSpPr>
        <p:spPr>
          <a:xfrm>
            <a:off x="914400" y="2011682"/>
            <a:ext cx="7620000" cy="115443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Q2:</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Secure hub space, pilot 50 households</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Q3:</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Launch digital platform, expand to 200 users</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Q4:</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Achieve £28.2K revenue, collect impact data</a:t>
            </a:r>
            <a:endParaRPr lang="en-US" sz="1350" dirty="0"/>
          </a:p>
        </p:txBody>
      </p:sp>
      <p:sp>
        <p:nvSpPr>
          <p:cNvPr id="5" name="Text 3"/>
          <p:cNvSpPr/>
          <p:nvPr/>
        </p:nvSpPr>
        <p:spPr>
          <a:xfrm>
            <a:off x="190500" y="4194814"/>
            <a:ext cx="8763000" cy="85344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Year 1 focuses on proof of concept and data collection. Q2: Secure Bristol hub (Future Leap partnership), complete Smart-Prep cookbook (31 recipes), pilot 50 households, submit grant applications, apply for visa endorsement. Q3: Launch digital subscription platform (20 videos), expand to 200 users, hire Kitchen Training Lead. Q4: Hit revenue target, collect baseline carbon/cost data.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47857"/>
        </a:solidFill>
        <a:effectLst/>
      </p:bgPr>
    </p:bg>
    <p:spTree>
      <p:nvGrpSpPr>
        <p:cNvPr id="1" name=""/>
        <p:cNvGrpSpPr/>
        <p:nvPr/>
      </p:nvGrpSpPr>
      <p:grpSpPr>
        <a:xfrm>
          <a:off x="0" y="0"/>
          <a:ext cx="0" cy="0"/>
          <a:chOff x="0" y="0"/>
          <a:chExt cx="0" cy="0"/>
        </a:xfrm>
      </p:grpSpPr>
      <p:sp>
        <p:nvSpPr>
          <p:cNvPr id="2" name="Text 0"/>
          <p:cNvSpPr/>
          <p:nvPr/>
        </p:nvSpPr>
        <p:spPr>
          <a:xfrm>
            <a:off x="609600" y="1159073"/>
            <a:ext cx="7924800" cy="1078944"/>
          </a:xfrm>
          <a:prstGeom prst="rect">
            <a:avLst/>
          </a:prstGeom>
          <a:solidFill>
            <a:srgbClr val="FFFFFF">
              <a:alpha val="10000"/>
            </a:srgbClr>
          </a:solidFill>
        </p:spPr>
        <p:txBody>
          <a:bodyPr wrap="none" lIns="0" tIns="0" rIns="0" bIns="0" rtlCol="0" anchor="ctr">
            <a:normAutofit/>
          </a:bodyPr>
          <a:lstStyle/>
          <a:p>
            <a:pPr marL="0" indent="0">
              <a:buNone/>
            </a:pPr>
            <a:endParaRPr lang="en-US" dirty="0"/>
          </a:p>
        </p:txBody>
      </p:sp>
      <p:sp>
        <p:nvSpPr>
          <p:cNvPr id="3" name="Text 1"/>
          <p:cNvSpPr/>
          <p:nvPr/>
        </p:nvSpPr>
        <p:spPr>
          <a:xfrm>
            <a:off x="609600" y="2238022"/>
            <a:ext cx="7924800" cy="1078944"/>
          </a:xfrm>
          <a:prstGeom prst="rect">
            <a:avLst/>
          </a:prstGeom>
          <a:solidFill>
            <a:srgbClr val="FFFFFF">
              <a:alpha val="10000"/>
            </a:srgbClr>
          </a:solidFill>
        </p:spPr>
        <p:txBody>
          <a:bodyPr wrap="none" lIns="0" tIns="0" rIns="0" bIns="0" rtlCol="0" anchor="ctr">
            <a:normAutofit/>
          </a:bodyPr>
          <a:lstStyle/>
          <a:p>
            <a:pPr marL="0" indent="0">
              <a:buNone/>
            </a:pPr>
            <a:endParaRPr lang="en-US" dirty="0"/>
          </a:p>
        </p:txBody>
      </p:sp>
      <p:sp>
        <p:nvSpPr>
          <p:cNvPr id="4" name="Text 2"/>
          <p:cNvSpPr/>
          <p:nvPr/>
        </p:nvSpPr>
        <p:spPr>
          <a:xfrm>
            <a:off x="609600" y="3316960"/>
            <a:ext cx="7924800" cy="1078944"/>
          </a:xfrm>
          <a:prstGeom prst="rect">
            <a:avLst/>
          </a:prstGeom>
          <a:solidFill>
            <a:srgbClr val="FFFFFF">
              <a:alpha val="10000"/>
            </a:srgbClr>
          </a:solidFill>
        </p:spPr>
        <p:txBody>
          <a:bodyPr wrap="none" lIns="0" tIns="0" rIns="0" bIns="0" rtlCol="0" anchor="ctr">
            <a:normAutofit/>
          </a:bodyPr>
          <a:lstStyle/>
          <a:p>
            <a:pPr marL="0" indent="0">
              <a:buNone/>
            </a:pPr>
            <a:endParaRPr lang="en-US" dirty="0"/>
          </a:p>
        </p:txBody>
      </p:sp>
      <p:sp>
        <p:nvSpPr>
          <p:cNvPr id="5" name="Text 3"/>
          <p:cNvSpPr/>
          <p:nvPr/>
        </p:nvSpPr>
        <p:spPr>
          <a:xfrm>
            <a:off x="2745002" y="442792"/>
            <a:ext cx="3653878" cy="411480"/>
          </a:xfrm>
          <a:prstGeom prst="rect">
            <a:avLst/>
          </a:prstGeom>
          <a:noFill/>
        </p:spPr>
        <p:txBody>
          <a:bodyPr wrap="square" lIns="0" tIns="0" rIns="0" bIns="0" rtlCol="0" anchor="t"/>
          <a:lstStyle/>
          <a:p>
            <a:pPr marL="0" indent="0" algn="ctr">
              <a:lnSpc>
                <a:spcPts val="3240"/>
              </a:lnSpc>
              <a:buNone/>
            </a:pPr>
            <a:r>
              <a:rPr lang="en-US" sz="2700" b="1" dirty="0">
                <a:solidFill>
                  <a:srgbClr val="FFFFFF"/>
                </a:solidFill>
                <a:latin typeface="Arial" panose="020B0604020202020204" pitchFamily="34" charset="0"/>
                <a:ea typeface="Arial" panose="020B0604020202020204" pitchFamily="34" charset="-122"/>
                <a:cs typeface="Arial" panose="020B0604020202020204" pitchFamily="34" charset="-120"/>
              </a:rPr>
              <a:t>Environmental Impact</a:t>
            </a:r>
            <a:endParaRPr lang="en-US" sz="2700" dirty="0"/>
          </a:p>
        </p:txBody>
      </p:sp>
      <p:sp>
        <p:nvSpPr>
          <p:cNvPr id="6" name="Text 4"/>
          <p:cNvSpPr/>
          <p:nvPr/>
        </p:nvSpPr>
        <p:spPr>
          <a:xfrm>
            <a:off x="763524" y="1387673"/>
            <a:ext cx="7616952" cy="342900"/>
          </a:xfrm>
          <a:prstGeom prst="rect">
            <a:avLst/>
          </a:prstGeom>
          <a:noFill/>
        </p:spPr>
        <p:txBody>
          <a:bodyPr wrap="square" lIns="0" tIns="0" rIns="0" bIns="0" rtlCol="0" anchor="t"/>
          <a:lstStyle/>
          <a:p>
            <a:pPr marL="0" indent="0" algn="ctr">
              <a:lnSpc>
                <a:spcPts val="2700"/>
              </a:lnSpc>
              <a:buNone/>
            </a:pPr>
            <a:r>
              <a:rPr lang="en-US" sz="2250" b="1" dirty="0">
                <a:solidFill>
                  <a:srgbClr val="FFFFFF"/>
                </a:solidFill>
                <a:latin typeface="Arial" panose="020B0604020202020204" pitchFamily="34" charset="0"/>
                <a:ea typeface="Arial" panose="020B0604020202020204" pitchFamily="34" charset="-122"/>
                <a:cs typeface="Arial" panose="020B0604020202020204" pitchFamily="34" charset="-120"/>
              </a:rPr>
              <a:t>58%</a:t>
            </a:r>
            <a:endParaRPr lang="en-US" sz="2250" dirty="0"/>
          </a:p>
        </p:txBody>
      </p:sp>
      <p:sp>
        <p:nvSpPr>
          <p:cNvPr id="7" name="Text 5"/>
          <p:cNvSpPr/>
          <p:nvPr/>
        </p:nvSpPr>
        <p:spPr>
          <a:xfrm>
            <a:off x="763524" y="1806773"/>
            <a:ext cx="7616952" cy="202644"/>
          </a:xfrm>
          <a:prstGeom prst="rect">
            <a:avLst/>
          </a:prstGeom>
          <a:noFill/>
        </p:spPr>
        <p:txBody>
          <a:bodyPr wrap="square" lIns="0" tIns="0" rIns="0" bIns="0" rtlCol="0" anchor="t"/>
          <a:lstStyle/>
          <a:p>
            <a:pPr marL="0" indent="0" algn="ctr">
              <a:lnSpc>
                <a:spcPts val="1595"/>
              </a:lnSpc>
              <a:buNone/>
            </a:pPr>
            <a:r>
              <a:rPr lang="en-US" sz="1140" dirty="0">
                <a:solidFill>
                  <a:srgbClr val="FFFFFF"/>
                </a:solidFill>
                <a:latin typeface="Arial" panose="020B0604020202020204" pitchFamily="34" charset="0"/>
                <a:ea typeface="Arial" panose="020B0604020202020204" pitchFamily="34" charset="-122"/>
                <a:cs typeface="Arial" panose="020B0604020202020204" pitchFamily="34" charset="-120"/>
              </a:rPr>
              <a:t>Carbon reduction per household</a:t>
            </a:r>
            <a:endParaRPr lang="en-US" sz="1140" dirty="0"/>
          </a:p>
        </p:txBody>
      </p:sp>
      <p:sp>
        <p:nvSpPr>
          <p:cNvPr id="8" name="Text 6"/>
          <p:cNvSpPr/>
          <p:nvPr/>
        </p:nvSpPr>
        <p:spPr>
          <a:xfrm>
            <a:off x="763524" y="2466622"/>
            <a:ext cx="7616952" cy="342900"/>
          </a:xfrm>
          <a:prstGeom prst="rect">
            <a:avLst/>
          </a:prstGeom>
          <a:noFill/>
        </p:spPr>
        <p:txBody>
          <a:bodyPr wrap="square" lIns="0" tIns="0" rIns="0" bIns="0" rtlCol="0" anchor="t"/>
          <a:lstStyle/>
          <a:p>
            <a:pPr marL="0" indent="0" algn="ctr">
              <a:lnSpc>
                <a:spcPts val="2700"/>
              </a:lnSpc>
              <a:buNone/>
            </a:pPr>
            <a:r>
              <a:rPr lang="en-US" sz="2250" b="1" dirty="0">
                <a:solidFill>
                  <a:srgbClr val="FFFFFF"/>
                </a:solidFill>
                <a:latin typeface="Arial" panose="020B0604020202020204" pitchFamily="34" charset="0"/>
                <a:ea typeface="Arial" panose="020B0604020202020204" pitchFamily="34" charset="-122"/>
                <a:cs typeface="Arial" panose="020B0604020202020204" pitchFamily="34" charset="-120"/>
              </a:rPr>
              <a:t>5,800t</a:t>
            </a:r>
            <a:endParaRPr lang="en-US" sz="2250" dirty="0"/>
          </a:p>
        </p:txBody>
      </p:sp>
      <p:sp>
        <p:nvSpPr>
          <p:cNvPr id="9" name="Text 7"/>
          <p:cNvSpPr/>
          <p:nvPr/>
        </p:nvSpPr>
        <p:spPr>
          <a:xfrm>
            <a:off x="763524" y="2885722"/>
            <a:ext cx="7616952" cy="202644"/>
          </a:xfrm>
          <a:prstGeom prst="rect">
            <a:avLst/>
          </a:prstGeom>
          <a:noFill/>
        </p:spPr>
        <p:txBody>
          <a:bodyPr wrap="square" lIns="0" tIns="0" rIns="0" bIns="0" rtlCol="0" anchor="t"/>
          <a:lstStyle/>
          <a:p>
            <a:pPr marL="0" indent="0" algn="ctr">
              <a:lnSpc>
                <a:spcPts val="1595"/>
              </a:lnSpc>
              <a:buNone/>
            </a:pPr>
            <a:r>
              <a:rPr lang="en-US" sz="1140" dirty="0">
                <a:solidFill>
                  <a:srgbClr val="FFFFFF"/>
                </a:solidFill>
                <a:latin typeface="Arial" panose="020B0604020202020204" pitchFamily="34" charset="0"/>
                <a:ea typeface="Arial" panose="020B0604020202020204" pitchFamily="34" charset="-122"/>
                <a:cs typeface="Arial" panose="020B0604020202020204" pitchFamily="34" charset="-120"/>
              </a:rPr>
              <a:t>CO₂ reduction by Year 5</a:t>
            </a:r>
            <a:endParaRPr lang="en-US" sz="1140" dirty="0"/>
          </a:p>
        </p:txBody>
      </p:sp>
      <p:sp>
        <p:nvSpPr>
          <p:cNvPr id="10" name="Text 8"/>
          <p:cNvSpPr/>
          <p:nvPr/>
        </p:nvSpPr>
        <p:spPr>
          <a:xfrm>
            <a:off x="763524" y="3545560"/>
            <a:ext cx="7616952" cy="342900"/>
          </a:xfrm>
          <a:prstGeom prst="rect">
            <a:avLst/>
          </a:prstGeom>
          <a:noFill/>
        </p:spPr>
        <p:txBody>
          <a:bodyPr wrap="square" lIns="0" tIns="0" rIns="0" bIns="0" rtlCol="0" anchor="t"/>
          <a:lstStyle/>
          <a:p>
            <a:pPr marL="0" indent="0" algn="ctr">
              <a:lnSpc>
                <a:spcPts val="2700"/>
              </a:lnSpc>
              <a:buNone/>
            </a:pPr>
            <a:r>
              <a:rPr lang="en-US" sz="2250" b="1" dirty="0">
                <a:solidFill>
                  <a:srgbClr val="FFFFFF"/>
                </a:solidFill>
                <a:latin typeface="Arial" panose="020B0604020202020204" pitchFamily="34" charset="0"/>
                <a:ea typeface="Arial" panose="020B0604020202020204" pitchFamily="34" charset="-122"/>
                <a:cs typeface="Arial" panose="020B0604020202020204" pitchFamily="34" charset="-120"/>
              </a:rPr>
              <a:t>£1,300</a:t>
            </a:r>
            <a:endParaRPr lang="en-US" sz="2250" dirty="0"/>
          </a:p>
        </p:txBody>
      </p:sp>
      <p:sp>
        <p:nvSpPr>
          <p:cNvPr id="11" name="Text 9"/>
          <p:cNvSpPr/>
          <p:nvPr/>
        </p:nvSpPr>
        <p:spPr>
          <a:xfrm>
            <a:off x="763524" y="3964660"/>
            <a:ext cx="7616952" cy="202644"/>
          </a:xfrm>
          <a:prstGeom prst="rect">
            <a:avLst/>
          </a:prstGeom>
          <a:noFill/>
        </p:spPr>
        <p:txBody>
          <a:bodyPr wrap="square" lIns="0" tIns="0" rIns="0" bIns="0" rtlCol="0" anchor="t"/>
          <a:lstStyle/>
          <a:p>
            <a:pPr marL="0" indent="0" algn="ctr">
              <a:lnSpc>
                <a:spcPts val="1595"/>
              </a:lnSpc>
              <a:buNone/>
            </a:pPr>
            <a:r>
              <a:rPr lang="en-US" sz="1140" dirty="0">
                <a:solidFill>
                  <a:srgbClr val="FFFFFF"/>
                </a:solidFill>
                <a:latin typeface="Arial" panose="020B0604020202020204" pitchFamily="34" charset="0"/>
                <a:ea typeface="Arial" panose="020B0604020202020204" pitchFamily="34" charset="-122"/>
                <a:cs typeface="Arial" panose="020B0604020202020204" pitchFamily="34" charset="-120"/>
              </a:rPr>
              <a:t>Annual savings per household</a:t>
            </a:r>
            <a:endParaRPr lang="en-US" sz="1140" dirty="0"/>
          </a:p>
        </p:txBody>
      </p:sp>
      <p:sp>
        <p:nvSpPr>
          <p:cNvPr id="12" name="Text 10"/>
          <p:cNvSpPr/>
          <p:nvPr/>
        </p:nvSpPr>
        <p:spPr>
          <a:xfrm>
            <a:off x="190500" y="4408168"/>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NOTES: Quantified environmental impact demonstrates ESG value. 58% carbon reduction per household through induction switch (validated DEFRA 2025 factors). 5,800 tonnes CO₂ cumulative reduction by Year 5 (10,000 households). £1,300 annual energy savings per household addresses fuel poverty. Aligns with UK Net Zero 2030 targets.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851928"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Social Impact</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Community Transformation</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Cultural heritage preservation through recipe adaptation</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Sustainability skills for underserved communities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Job creation: 2 FTE → 10 FTE → 50+ FTE by Year 5</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Fuel poverty reduction for African/Caribbean households</a:t>
            </a:r>
            <a:endParaRPr lang="en-US" sz="1350" dirty="0"/>
          </a:p>
        </p:txBody>
      </p:sp>
      <p:sp>
        <p:nvSpPr>
          <p:cNvPr id="5" name="Text 3"/>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Social impact addresses equity gap in green transition. Cultural heritage protected — recipes adapted, not abandoned. Sustainability education reaches underserved communities excluded from mainstream green programmes. Job creation pathway: 2 FTE (Year 1) → 10 FTE (Year 3) → 50+ FTE (Year 5). Fuel poverty reduction through £1,300 annual savings.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191728"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UN SDG Alignment</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Sustainable Development Goals</a:t>
            </a:r>
            <a:endParaRPr lang="en-US" sz="2700" dirty="0"/>
          </a:p>
        </p:txBody>
      </p:sp>
      <p:sp>
        <p:nvSpPr>
          <p:cNvPr id="4" name="Text 2"/>
          <p:cNvSpPr/>
          <p:nvPr/>
        </p:nvSpPr>
        <p:spPr>
          <a:xfrm>
            <a:off x="914400" y="1935482"/>
            <a:ext cx="7620000" cy="1577340"/>
          </a:xfrm>
          <a:prstGeom prst="rect">
            <a:avLst/>
          </a:prstGeom>
          <a:noFill/>
        </p:spPr>
        <p:txBody>
          <a:bodyPr wrap="square" lIns="0" tIns="0" rIns="0" bIns="0" rtlCol="0" anchor="t"/>
          <a:lstStyle/>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SDG 7:</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Affordable &amp; Clean Energy transition</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SDG 11:</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Sustainable Cities &amp; Communities</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SDG 12:</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Responsible Consumption &amp; Production</a:t>
            </a:r>
            <a:endParaRPr lang="en-US" sz="1350" dirty="0"/>
          </a:p>
          <a:p>
            <a:pPr marL="0" indent="0">
              <a:lnSpc>
                <a:spcPts val="2430"/>
              </a:lnSpc>
              <a:buSzPct val="100000"/>
              <a:buNone/>
            </a:pPr>
            <a:r>
              <a:rPr lang="en-US" sz="1350" b="1" dirty="0">
                <a:solidFill>
                  <a:srgbClr val="CBD5E1"/>
                </a:solidFill>
                <a:latin typeface="Arial" panose="020B0604020202020204" pitchFamily="34" charset="0"/>
                <a:ea typeface="Arial" panose="020B0604020202020204" pitchFamily="34" charset="-122"/>
                <a:cs typeface="Arial" panose="020B0604020202020204" pitchFamily="34" charset="-120"/>
              </a:rPr>
              <a:t>SDG 13:</a:t>
            </a: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 Climate Action (Net Zero 2030)</a:t>
            </a:r>
            <a:endParaRPr lang="en-US" sz="1350" dirty="0"/>
          </a:p>
        </p:txBody>
      </p:sp>
      <p:sp>
        <p:nvSpPr>
          <p:cNvPr id="5" name="Text 3"/>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Business model aligns with four UN Sustainable Development Goals. SDG 7: Facilitates affordable clean energy access through induction adoption. SDG 11: Builds sustainable urban communities through local hubs. SDG 12: Promotes responsible food consumption (lower-carbon ingredients). SDG 13: Delivers measurable climate action aligned with UK Net Zero 2030.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473356"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Innovator Founder Visa</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CRITERION 1: INNOVATIVE</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First African/Caribbean sustainable food tech hub in UK</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UK's first AI carbon tracker for diaspora cooking</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Proprietary Smart-Prep™ methodology</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Hub &amp; Spoke model — no direct precedent</a:t>
            </a:r>
            <a:endParaRPr lang="en-US" sz="1350" dirty="0"/>
          </a:p>
        </p:txBody>
      </p:sp>
      <p:sp>
        <p:nvSpPr>
          <p:cNvPr id="5" name="Text 3"/>
          <p:cNvSpPr/>
          <p:nvPr/>
        </p:nvSpPr>
        <p:spPr>
          <a:xfrm>
            <a:off x="190500" y="4194814"/>
            <a:ext cx="8763000" cy="85344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Meets Innovator Founder Visa INNOVATION criterion. Market-first position: no UK competitor combines African/Caribbean cultural focus with sustainable food technology. AI carbon tracker is UK-first for diaspora cooking. Smart-Prep™ methodology represents genuine innovation (recipe re-engineering + carbon accounting). Hub &amp; Spoke model has no direct precedent in this sector.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473356"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Innovator Founder Visa</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CRITERION 2: VIABLE</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Experienced founder with relevant qualifications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5 diversified revenue streams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Confirmed institutional partnerships (WECA, NHS)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Profitability from Year 2</a:t>
            </a:r>
            <a:endParaRPr lang="en-US" sz="1350" dirty="0"/>
          </a:p>
        </p:txBody>
      </p:sp>
      <p:sp>
        <p:nvSpPr>
          <p:cNvPr id="5" name="Text 3"/>
          <p:cNvSpPr/>
          <p:nvPr/>
        </p:nvSpPr>
        <p:spPr>
          <a:xfrm>
            <a:off x="190500" y="4194814"/>
            <a:ext cx="8763000" cy="85344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Meets VIABILITY criterion. Founder brings 14 years financial leadership, MSc FinTech, Chartered Manager status, AI/data science skills, professional cookery qualification. Five revenue streams reduce dependency. Institutional partnerships (Future Leap/WECA, NHS, Cool Ventures) provide validation. Conservative projections show profitability Year 2. Grant pipeline covers Year 1 deficit.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473356"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Innovator Founder Visa</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CRITERION 3: SCALABLE</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Digital platform scales nationally at near-zero cost</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Hub &amp; Spoke licensing for 3+ cities by Year 3</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SaaS potential for 100,000+ UK food businesses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Job creation: 2 FTE → 50+ FTE by Year 5</a:t>
            </a:r>
            <a:endParaRPr lang="en-US" sz="1350" dirty="0"/>
          </a:p>
        </p:txBody>
      </p:sp>
      <p:sp>
        <p:nvSpPr>
          <p:cNvPr id="5" name="Text 3"/>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Meets SCALABILITY criterion. Digital subscription platform scales nationally at near-zero marginal cost. Hub &amp; Spoke licensing enables 3+ cities by Year 3, 10+ by Year 5. AI carbon tracker packageable as standalone SaaS for 100,000+ UK food businesses facing Scope 3 reporting. Job creation: 2 FTE → 10 FTE → 50+ FTE demonstrates economic impact.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47857"/>
        </a:solidFill>
        <a:effectLst/>
      </p:bgPr>
    </p:bg>
    <p:spTree>
      <p:nvGrpSpPr>
        <p:cNvPr id="1" name=""/>
        <p:cNvGrpSpPr/>
        <p:nvPr/>
      </p:nvGrpSpPr>
      <p:grpSpPr>
        <a:xfrm>
          <a:off x="0" y="0"/>
          <a:ext cx="0" cy="0"/>
          <a:chOff x="0" y="0"/>
          <a:chExt cx="0" cy="0"/>
        </a:xfrm>
      </p:grpSpPr>
      <p:sp>
        <p:nvSpPr>
          <p:cNvPr id="2" name="Text 0"/>
          <p:cNvSpPr/>
          <p:nvPr/>
        </p:nvSpPr>
        <p:spPr>
          <a:xfrm>
            <a:off x="2716097" y="1604014"/>
            <a:ext cx="3711807" cy="411480"/>
          </a:xfrm>
          <a:prstGeom prst="rect">
            <a:avLst/>
          </a:prstGeom>
          <a:noFill/>
        </p:spPr>
        <p:txBody>
          <a:bodyPr wrap="square" lIns="0" tIns="0" rIns="0" bIns="0" rtlCol="0" anchor="t"/>
          <a:lstStyle/>
          <a:p>
            <a:pPr marL="0" indent="0" algn="ctr">
              <a:lnSpc>
                <a:spcPts val="3240"/>
              </a:lnSpc>
              <a:buNone/>
            </a:pPr>
            <a:r>
              <a:rPr lang="en-US" sz="2700" b="1" dirty="0">
                <a:solidFill>
                  <a:srgbClr val="FFFFFF"/>
                </a:solidFill>
                <a:latin typeface="Arial" panose="020B0604020202020204" pitchFamily="34" charset="0"/>
                <a:ea typeface="Arial" panose="020B0604020202020204" pitchFamily="34" charset="-122"/>
                <a:cs typeface="Arial" panose="020B0604020202020204" pitchFamily="34" charset="-120"/>
              </a:rPr>
              <a:t>No Direct Competitors</a:t>
            </a:r>
            <a:endParaRPr lang="en-US" sz="2700" dirty="0"/>
          </a:p>
        </p:txBody>
      </p:sp>
      <p:sp>
        <p:nvSpPr>
          <p:cNvPr id="3" name="Text 1"/>
          <p:cNvSpPr/>
          <p:nvPr/>
        </p:nvSpPr>
        <p:spPr>
          <a:xfrm>
            <a:off x="762000" y="2320296"/>
            <a:ext cx="7620000" cy="914400"/>
          </a:xfrm>
          <a:prstGeom prst="rect">
            <a:avLst/>
          </a:prstGeom>
          <a:noFill/>
        </p:spPr>
        <p:txBody>
          <a:bodyPr wrap="square" lIns="0" tIns="0" rIns="0" bIns="0" rtlCol="0" anchor="t"/>
          <a:lstStyle/>
          <a:p>
            <a:pPr marL="0" indent="0" algn="ctr">
              <a:lnSpc>
                <a:spcPts val="2400"/>
              </a:lnSpc>
              <a:buNone/>
            </a:pPr>
            <a:r>
              <a:rPr lang="en-US" sz="1500" dirty="0">
                <a:solidFill>
                  <a:srgbClr val="FFFFFF"/>
                </a:solidFill>
                <a:latin typeface="Arial" panose="020B0604020202020204" pitchFamily="34" charset="0"/>
                <a:ea typeface="Arial" panose="020B0604020202020204" pitchFamily="34" charset="-122"/>
                <a:cs typeface="Arial" panose="020B0604020202020204" pitchFamily="34" charset="-120"/>
              </a:rPr>
              <a:t>Green Africa Hub is the first and only African and Caribbean sustainable food technology hub in the UK. We combine cultural authenticity, technical innovation, and sustainability education in a way no existing business does.</a:t>
            </a:r>
            <a:endParaRPr lang="en-US" sz="1500" dirty="0"/>
          </a:p>
        </p:txBody>
      </p:sp>
      <p:sp>
        <p:nvSpPr>
          <p:cNvPr id="4" name="Text 2"/>
          <p:cNvSpPr/>
          <p:nvPr/>
        </p:nvSpPr>
        <p:spPr>
          <a:xfrm>
            <a:off x="190500" y="4408168"/>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NOTES: Competitive landscape analysis confirms zero direct competitors. Standard community kitchens lack education/digital layer. Mainstream food EdTech has no diaspora focus. African/Caribbean food businesses lack technology/carbon tracking. We occupy unique intersection of cultural authenticity + technical innovation + sustainability mission.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1123476"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Risk Management</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Risk Mitigation Strategy</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Phased rollout allows course correction</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Multiple grant applications reduce funding risk</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Diversified revenue protects against single-stream failure</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Process documentation reduces founder dependency</a:t>
            </a:r>
            <a:endParaRPr lang="en-US" sz="1350" dirty="0"/>
          </a:p>
        </p:txBody>
      </p:sp>
      <p:sp>
        <p:nvSpPr>
          <p:cNvPr id="5" name="Text 3"/>
          <p:cNvSpPr/>
          <p:nvPr/>
        </p:nvSpPr>
        <p:spPr>
          <a:xfrm>
            <a:off x="190500" y="4194814"/>
            <a:ext cx="8763000" cy="85344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Risk management demonstrates business maturity. Market adoption risk mitigated through taste-testing, peer champions, phased rollout. Funding risk addressed via multiple grant applications (no single-funder dependency). Revenue diversification protects against stream underperformance. Process documentation and deputy leadership hiring (Year 2) reduce founder dependency.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683000"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Next Steps</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Immediate Priorities (Q2 2026)</a:t>
            </a:r>
            <a:endParaRPr lang="en-US" sz="2700" dirty="0"/>
          </a:p>
        </p:txBody>
      </p:sp>
      <p:sp>
        <p:nvSpPr>
          <p:cNvPr id="4" name="Text 2"/>
          <p:cNvSpPr/>
          <p:nvPr/>
        </p:nvSpPr>
        <p:spPr>
          <a:xfrm>
            <a:off x="914400" y="2011682"/>
            <a:ext cx="7620000" cy="200025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Complete 50-household pilot (Bristol)</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Secure £125,000+ grant funding</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Launch digital subscription platform</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Establish equipment partnerships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Secure Innovator Founder Visa endorsement</a:t>
            </a:r>
            <a:endParaRPr lang="en-US" sz="1350" dirty="0"/>
          </a:p>
        </p:txBody>
      </p:sp>
      <p:sp>
        <p:nvSpPr>
          <p:cNvPr id="5" name="Text 3"/>
          <p:cNvSpPr/>
          <p:nvPr/>
        </p:nvSpPr>
        <p:spPr>
          <a:xfrm>
            <a:off x="190500" y="4194814"/>
            <a:ext cx="8763000" cy="85344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Q2 2026 priorities establish foundation. 50-household pilot validates model and collects baseline data. Grant funding (£125K+ target) covers Year 1 deficit. Digital platform launch enables national scale. Equipment partnerships (Magimix or alternative) provide commission revenue. Innovator Founder Visa endorsement critical for founder to remain in UK and execute business.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904875" y="142875"/>
            <a:ext cx="719433" cy="168354"/>
          </a:xfrm>
          <a:prstGeom prst="rect">
            <a:avLst/>
          </a:prstGeom>
          <a:noFill/>
        </p:spPr>
        <p:txBody>
          <a:bodyPr wrap="square" lIns="0" tIns="0" rIns="0" bIns="0" rtlCol="0" anchor="t"/>
          <a:lstStyle/>
          <a:p>
            <a:pPr marL="0" indent="0">
              <a:lnSpc>
                <a:spcPts val="1325"/>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Conclusion</a:t>
            </a:r>
            <a:endParaRPr lang="en-US" sz="1020" dirty="0"/>
          </a:p>
        </p:txBody>
      </p:sp>
      <p:sp>
        <p:nvSpPr>
          <p:cNvPr id="3" name="Text 1"/>
          <p:cNvSpPr/>
          <p:nvPr/>
        </p:nvSpPr>
        <p:spPr>
          <a:xfrm>
            <a:off x="609600" y="1371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Why Green Africa Hub Will Succeed</a:t>
            </a:r>
            <a:endParaRPr lang="en-US" sz="2700" dirty="0"/>
          </a:p>
        </p:txBody>
      </p:sp>
      <p:sp>
        <p:nvSpPr>
          <p:cNvPr id="4" name="Text 2"/>
          <p:cNvSpPr/>
          <p:nvPr/>
        </p:nvSpPr>
        <p:spPr>
          <a:xfrm>
            <a:off x="914400" y="2011682"/>
            <a:ext cx="7620000" cy="1577340"/>
          </a:xfrm>
          <a:prstGeom prst="rect">
            <a:avLst/>
          </a:prstGeom>
          <a:noFill/>
        </p:spPr>
        <p:txBody>
          <a:bodyPr wrap="square" lIns="0" tIns="0" rIns="0" bIns="0" rtlCol="0" anchor="t"/>
          <a:lstStyle/>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First-mover advantage — no UK competitors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Institutional validation (WECA, NHS, Cool Ventures)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Proprietary IP (AI tracker, Smart-Prep™, recipes)</a:t>
            </a:r>
            <a:endParaRPr lang="en-US" sz="1350" dirty="0"/>
          </a:p>
          <a:p>
            <a:pPr marL="342900" indent="-342900">
              <a:lnSpc>
                <a:spcPts val="2430"/>
              </a:lnSpc>
              <a:buSzPct val="100000"/>
              <a:buChar char="•"/>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Scalable Hub &amp; Spoke + SaaS model</a:t>
            </a:r>
            <a:endParaRPr lang="en-US" sz="1350" dirty="0"/>
          </a:p>
        </p:txBody>
      </p:sp>
      <p:sp>
        <p:nvSpPr>
          <p:cNvPr id="5" name="Text 3"/>
          <p:cNvSpPr/>
          <p:nvPr/>
        </p:nvSpPr>
        <p:spPr>
          <a:xfrm>
            <a:off x="190500" y="4408168"/>
            <a:ext cx="8763000" cy="640080"/>
          </a:xfrm>
          <a:prstGeom prst="rect">
            <a:avLst/>
          </a:prstGeom>
          <a:noFill/>
        </p:spPr>
        <p:txBody>
          <a:bodyPr wrap="square" lIns="0" tIns="0" rIns="0" bIns="0" rtlCol="0" anchor="t"/>
          <a:lstStyle/>
          <a:p>
            <a:pPr marL="0" indent="0">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Summary reinforces competitive advantages. First-mover position in untapped market. Institutional validation from day one (WECA, NHS, Cool Ventures). Protected IP provides defensible moat (AI algorithms trade secret, Smart-Prep™ trademark pending). Scalable model combines physical hubs, digital platform, and future SaaS offering.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47857"/>
        </a:solidFill>
        <a:effectLst/>
      </p:bgPr>
    </p:bg>
    <p:spTree>
      <p:nvGrpSpPr>
        <p:cNvPr id="1" name=""/>
        <p:cNvGrpSpPr/>
        <p:nvPr/>
      </p:nvGrpSpPr>
      <p:grpSpPr>
        <a:xfrm>
          <a:off x="0" y="0"/>
          <a:ext cx="0" cy="0"/>
          <a:chOff x="0" y="0"/>
          <a:chExt cx="0" cy="0"/>
        </a:xfrm>
      </p:grpSpPr>
      <p:sp>
        <p:nvSpPr>
          <p:cNvPr id="2" name="Text 0"/>
          <p:cNvSpPr/>
          <p:nvPr/>
        </p:nvSpPr>
        <p:spPr>
          <a:xfrm>
            <a:off x="2152356" y="1674502"/>
            <a:ext cx="4839169" cy="411480"/>
          </a:xfrm>
          <a:prstGeom prst="rect">
            <a:avLst/>
          </a:prstGeom>
          <a:noFill/>
        </p:spPr>
        <p:txBody>
          <a:bodyPr wrap="square" lIns="0" tIns="0" rIns="0" bIns="0" rtlCol="0" anchor="t"/>
          <a:lstStyle/>
          <a:p>
            <a:pPr marL="0" indent="0" algn="ctr">
              <a:lnSpc>
                <a:spcPts val="3240"/>
              </a:lnSpc>
              <a:buNone/>
            </a:pPr>
            <a:r>
              <a:rPr lang="en-US" sz="2700" b="1" dirty="0">
                <a:solidFill>
                  <a:srgbClr val="FFFFFF"/>
                </a:solidFill>
                <a:latin typeface="Arial" panose="020B0604020202020204" pitchFamily="34" charset="0"/>
                <a:ea typeface="Arial" panose="020B0604020202020204" pitchFamily="34" charset="-122"/>
                <a:cs typeface="Arial" panose="020B0604020202020204" pitchFamily="34" charset="-120"/>
              </a:rPr>
              <a:t>Leading the Green Transition</a:t>
            </a:r>
            <a:endParaRPr lang="en-US" sz="2700" dirty="0"/>
          </a:p>
        </p:txBody>
      </p:sp>
      <p:sp>
        <p:nvSpPr>
          <p:cNvPr id="3" name="Text 1"/>
          <p:cNvSpPr/>
          <p:nvPr/>
        </p:nvSpPr>
        <p:spPr>
          <a:xfrm>
            <a:off x="1000125" y="2314575"/>
            <a:ext cx="7143750" cy="914400"/>
          </a:xfrm>
          <a:prstGeom prst="rect">
            <a:avLst/>
          </a:prstGeom>
          <a:noFill/>
        </p:spPr>
        <p:txBody>
          <a:bodyPr wrap="square" lIns="0" tIns="0" rIns="0" bIns="0" rtlCol="0" anchor="t"/>
          <a:lstStyle/>
          <a:p>
            <a:pPr marL="0" indent="0" algn="ctr">
              <a:lnSpc>
                <a:spcPts val="2400"/>
              </a:lnSpc>
              <a:buNone/>
            </a:pPr>
            <a:r>
              <a:rPr lang="en-US" sz="1500" dirty="0">
                <a:solidFill>
                  <a:srgbClr val="FFFFFF"/>
                </a:solidFill>
                <a:latin typeface="Arial" panose="020B0604020202020204" pitchFamily="34" charset="0"/>
                <a:ea typeface="Arial" panose="020B0604020202020204" pitchFamily="34" charset="-122"/>
                <a:cs typeface="Arial" panose="020B0604020202020204" pitchFamily="34" charset="-120"/>
              </a:rPr>
              <a:t>Green Africa Hub is not just a business — it is a movement ensuring that African and Caribbean communities lead the UK's green transition while protecting the food traditions that define cultural identity.</a:t>
            </a:r>
            <a:endParaRPr lang="en-US" sz="1500" dirty="0"/>
          </a:p>
        </p:txBody>
      </p:sp>
      <p:sp>
        <p:nvSpPr>
          <p:cNvPr id="4" name="Text 2"/>
          <p:cNvSpPr/>
          <p:nvPr/>
        </p:nvSpPr>
        <p:spPr>
          <a:xfrm>
            <a:off x="2009660" y="3533775"/>
            <a:ext cx="5124562" cy="240030"/>
          </a:xfrm>
          <a:prstGeom prst="rect">
            <a:avLst/>
          </a:prstGeom>
          <a:noFill/>
        </p:spPr>
        <p:txBody>
          <a:bodyPr wrap="square" lIns="0" tIns="0" rIns="0" bIns="0" rtlCol="0" anchor="t"/>
          <a:lstStyle/>
          <a:p>
            <a:pPr marL="0" indent="0" algn="ctr">
              <a:lnSpc>
                <a:spcPts val="1890"/>
              </a:lnSpc>
              <a:buNone/>
            </a:pPr>
            <a:r>
              <a:rPr lang="en-US" sz="1350" dirty="0">
                <a:solidFill>
                  <a:srgbClr val="FFFFFF"/>
                </a:solidFill>
                <a:latin typeface="Arial" panose="020B0604020202020204" pitchFamily="34" charset="0"/>
                <a:ea typeface="Arial" panose="020B0604020202020204" pitchFamily="34" charset="-122"/>
                <a:cs typeface="Arial" panose="020B0604020202020204" pitchFamily="34" charset="-120"/>
              </a:rPr>
              <a:t>greenafricahub.co.uk | gracetuase@gmail.com | +44 7776 643169</a:t>
            </a:r>
            <a:endParaRPr lang="en-US" sz="1350" dirty="0"/>
          </a:p>
        </p:txBody>
      </p:sp>
      <p:sp>
        <p:nvSpPr>
          <p:cNvPr id="5" name="Text 3"/>
          <p:cNvSpPr/>
          <p:nvPr/>
        </p:nvSpPr>
        <p:spPr>
          <a:xfrm>
            <a:off x="190500" y="4408177"/>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NOTES: Closing emphasizes mission beyond profit. This is a movement ensuring African/Caribbean communities lead (not follow) the UK green transition. Cultural identity preserved through food traditions adapted for sustainability. Invitation for investors/partners to join this movement and create lasting social, environmental, and economic impact.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401647" y="1194439"/>
            <a:ext cx="2340707" cy="548640"/>
          </a:xfrm>
          <a:prstGeom prst="rect">
            <a:avLst/>
          </a:prstGeom>
          <a:noFill/>
        </p:spPr>
        <p:txBody>
          <a:bodyPr wrap="square" lIns="0" tIns="0" rIns="0" bIns="0" rtlCol="0" anchor="t"/>
          <a:lstStyle/>
          <a:p>
            <a:pPr marL="0" indent="0" algn="ctr">
              <a:lnSpc>
                <a:spcPts val="4320"/>
              </a:lnSpc>
              <a:buNone/>
            </a:pPr>
            <a:r>
              <a:rPr lang="en-US" sz="3600" b="1" dirty="0">
                <a:solidFill>
                  <a:srgbClr val="38BDF8"/>
                </a:solidFill>
                <a:latin typeface="Arial" panose="020B0604020202020204" pitchFamily="34" charset="0"/>
                <a:ea typeface="Arial" panose="020B0604020202020204" pitchFamily="34" charset="-122"/>
                <a:cs typeface="Arial" panose="020B0604020202020204" pitchFamily="34" charset="-120"/>
              </a:rPr>
              <a:t>Thank You</a:t>
            </a:r>
            <a:endParaRPr lang="en-US" sz="3600" dirty="0"/>
          </a:p>
        </p:txBody>
      </p:sp>
      <p:sp>
        <p:nvSpPr>
          <p:cNvPr id="3" name="Text 1"/>
          <p:cNvSpPr/>
          <p:nvPr/>
        </p:nvSpPr>
        <p:spPr>
          <a:xfrm>
            <a:off x="2536118" y="1971675"/>
            <a:ext cx="4071645" cy="266700"/>
          </a:xfrm>
          <a:prstGeom prst="rect">
            <a:avLst/>
          </a:prstGeom>
          <a:noFill/>
        </p:spPr>
        <p:txBody>
          <a:bodyPr wrap="square" lIns="0" tIns="0" rIns="0" bIns="0" rtlCol="0" anchor="t"/>
          <a:lstStyle/>
          <a:p>
            <a:pPr marL="0" indent="0" algn="ctr">
              <a:lnSpc>
                <a:spcPts val="2100"/>
              </a:lnSpc>
              <a:buNone/>
            </a:pPr>
            <a:r>
              <a:rPr lang="en-US" sz="1500" dirty="0">
                <a:solidFill>
                  <a:srgbClr val="CBD5E1"/>
                </a:solidFill>
                <a:latin typeface="Arial" panose="020B0604020202020204" pitchFamily="34" charset="0"/>
                <a:ea typeface="Arial" panose="020B0604020202020204" pitchFamily="34" charset="-122"/>
                <a:cs typeface="Arial" panose="020B0604020202020204" pitchFamily="34" charset="-120"/>
              </a:rPr>
              <a:t>For further information or partnership enquiries:</a:t>
            </a:r>
            <a:endParaRPr lang="en-US" sz="1500" dirty="0"/>
          </a:p>
        </p:txBody>
      </p:sp>
      <p:sp>
        <p:nvSpPr>
          <p:cNvPr id="4" name="Text 2"/>
          <p:cNvSpPr/>
          <p:nvPr/>
        </p:nvSpPr>
        <p:spPr>
          <a:xfrm>
            <a:off x="1842673" y="2466975"/>
            <a:ext cx="5458654" cy="240030"/>
          </a:xfrm>
          <a:prstGeom prst="rect">
            <a:avLst/>
          </a:prstGeom>
          <a:noFill/>
        </p:spPr>
        <p:txBody>
          <a:bodyPr wrap="square" lIns="0" tIns="0" rIns="0" bIns="0" rtlCol="0" anchor="t"/>
          <a:lstStyle/>
          <a:p>
            <a:pPr marL="0" indent="0" algn="ctr">
              <a:lnSpc>
                <a:spcPts val="1890"/>
              </a:lnSpc>
              <a:buNone/>
            </a:pPr>
            <a:r>
              <a:rPr lang="en-US" sz="1350" dirty="0">
                <a:solidFill>
                  <a:srgbClr val="CBD5E1"/>
                </a:solidFill>
                <a:latin typeface="Arial" panose="020B0604020202020204" pitchFamily="34" charset="0"/>
                <a:ea typeface="Arial" panose="020B0604020202020204" pitchFamily="34" charset="-122"/>
                <a:cs typeface="Arial" panose="020B0604020202020204" pitchFamily="34" charset="-120"/>
              </a:rPr>
              <a:t>Grace Omotuase — Founder &amp; CEO</a:t>
            </a:r>
            <a:endParaRPr lang="en-US" sz="1350" dirty="0"/>
          </a:p>
        </p:txBody>
      </p:sp>
      <p:sp>
        <p:nvSpPr>
          <p:cNvPr id="5" name="Text 3"/>
          <p:cNvSpPr/>
          <p:nvPr/>
        </p:nvSpPr>
        <p:spPr>
          <a:xfrm>
            <a:off x="1842673" y="2783216"/>
            <a:ext cx="5458654" cy="213360"/>
          </a:xfrm>
          <a:prstGeom prst="rect">
            <a:avLst/>
          </a:prstGeom>
          <a:noFill/>
        </p:spPr>
        <p:txBody>
          <a:bodyPr wrap="square" lIns="0" tIns="0" rIns="0" bIns="0" rtlCol="0" anchor="t"/>
          <a:lstStyle/>
          <a:p>
            <a:pPr marL="0" indent="0" algn="ctr">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GREEN AFRICA HUB LTD | Company No. 17107299</a:t>
            </a:r>
            <a:endParaRPr lang="en-US" sz="1200" dirty="0"/>
          </a:p>
        </p:txBody>
      </p:sp>
      <p:sp>
        <p:nvSpPr>
          <p:cNvPr id="6" name="Text 4"/>
          <p:cNvSpPr/>
          <p:nvPr/>
        </p:nvSpPr>
        <p:spPr>
          <a:xfrm>
            <a:off x="1842673" y="3072761"/>
            <a:ext cx="5458654" cy="213360"/>
          </a:xfrm>
          <a:prstGeom prst="rect">
            <a:avLst/>
          </a:prstGeom>
          <a:noFill/>
        </p:spPr>
        <p:txBody>
          <a:bodyPr wrap="square" lIns="0" tIns="0" rIns="0" bIns="0" rtlCol="0" anchor="t"/>
          <a:lstStyle/>
          <a:p>
            <a:pPr marL="0" indent="0" algn="ctr">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gracetuase@gmail.com | +44 7776 643169</a:t>
            </a:r>
            <a:endParaRPr lang="en-US" sz="1200" dirty="0"/>
          </a:p>
        </p:txBody>
      </p:sp>
      <p:sp>
        <p:nvSpPr>
          <p:cNvPr id="7" name="Text 5"/>
          <p:cNvSpPr/>
          <p:nvPr/>
        </p:nvSpPr>
        <p:spPr>
          <a:xfrm>
            <a:off x="1842673" y="3438525"/>
            <a:ext cx="5458654" cy="213360"/>
          </a:xfrm>
          <a:prstGeom prst="rect">
            <a:avLst/>
          </a:prstGeom>
          <a:noFill/>
        </p:spPr>
        <p:txBody>
          <a:bodyPr wrap="square" lIns="0" tIns="0" rIns="0" bIns="0" rtlCol="0" anchor="t"/>
          <a:lstStyle/>
          <a:p>
            <a:pPr marL="0" indent="0" algn="ctr">
              <a:lnSpc>
                <a:spcPts val="1680"/>
              </a:lnSpc>
              <a:buNone/>
            </a:pP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greenafricahub.co.uk | greenafricahub.org</a:t>
            </a:r>
            <a:endParaRPr lang="en-US" sz="1200" dirty="0"/>
          </a:p>
        </p:txBody>
      </p:sp>
      <p:sp>
        <p:nvSpPr>
          <p:cNvPr id="8" name="Text 6"/>
          <p:cNvSpPr/>
          <p:nvPr/>
        </p:nvSpPr>
        <p:spPr>
          <a:xfrm>
            <a:off x="1842673" y="3880489"/>
            <a:ext cx="5458654" cy="186690"/>
          </a:xfrm>
          <a:prstGeom prst="rect">
            <a:avLst/>
          </a:prstGeom>
          <a:noFill/>
        </p:spPr>
        <p:txBody>
          <a:bodyPr wrap="square" lIns="0" tIns="0" rIns="0" bIns="0" rtlCol="0" anchor="t"/>
          <a:lstStyle/>
          <a:p>
            <a:pPr marL="0" indent="0" algn="ctr">
              <a:lnSpc>
                <a:spcPts val="1470"/>
              </a:lnSpc>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2026 Green Africa Hub Ltd. All Rights Reserved.</a:t>
            </a:r>
            <a:endParaRPr lang="en-US" sz="1050" dirty="0"/>
          </a:p>
        </p:txBody>
      </p:sp>
      <p:sp>
        <p:nvSpPr>
          <p:cNvPr id="9" name="Text 7"/>
          <p:cNvSpPr/>
          <p:nvPr/>
        </p:nvSpPr>
        <p:spPr>
          <a:xfrm>
            <a:off x="1842673" y="4067175"/>
            <a:ext cx="5458654" cy="186690"/>
          </a:xfrm>
          <a:prstGeom prst="rect">
            <a:avLst/>
          </a:prstGeom>
          <a:noFill/>
        </p:spPr>
        <p:txBody>
          <a:bodyPr wrap="square" lIns="0" tIns="0" rIns="0" bIns="0" rtlCol="0" anchor="t"/>
          <a:lstStyle/>
          <a:p>
            <a:pPr marL="0" indent="0" algn="ctr">
              <a:lnSpc>
                <a:spcPts val="1470"/>
              </a:lnSpc>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Smart-Prep™ methodology and AI carbon tracking are proprietary to Green Africa Hub Ltd.</a:t>
            </a:r>
            <a:endParaRPr lang="en-US" sz="1050" dirty="0"/>
          </a:p>
        </p:txBody>
      </p:sp>
      <p:sp>
        <p:nvSpPr>
          <p:cNvPr id="10" name="Text 8"/>
          <p:cNvSpPr/>
          <p:nvPr/>
        </p:nvSpPr>
        <p:spPr>
          <a:xfrm>
            <a:off x="190500" y="4408177"/>
            <a:ext cx="8763000" cy="640080"/>
          </a:xfrm>
          <a:prstGeom prst="rect">
            <a:avLst/>
          </a:prstGeom>
          <a:noFill/>
        </p:spPr>
        <p:txBody>
          <a:bodyPr wrap="square" lIns="0" tIns="0" rIns="0" bIns="0" rtlCol="0" anchor="t"/>
          <a:lstStyle/>
          <a:p>
            <a:pPr marL="0" indent="0" algn="ctr">
              <a:lnSpc>
                <a:spcPts val="1680"/>
              </a:lnSpc>
              <a:buNone/>
            </a:pPr>
            <a:r>
              <a:rPr lang="en-US" sz="1200" dirty="0">
                <a:solidFill>
                  <a:srgbClr val="94A3B8"/>
                </a:solidFill>
                <a:latin typeface="Arial" panose="020B0604020202020204" pitchFamily="34" charset="0"/>
                <a:ea typeface="Arial" panose="020B0604020202020204" pitchFamily="34" charset="-122"/>
                <a:cs typeface="Arial" panose="020B0604020202020204" pitchFamily="34" charset="-120"/>
              </a:rPr>
              <a:t>NOTES: Contact slide for follow-up conversations. Reiterate IP protection (Smart-Prep™ and AI carbon tracking proprietary). Provide all contact methods (email, phone, websites). Invite partnership enquiries. Thank Envestors and panel for their time. Express readiness to answer questions and provide additional documentation as needed.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17409</Words>
  <Application>WPS Presentation</Application>
  <PresentationFormat>On-screen Show (16:9)</PresentationFormat>
  <Paragraphs>390</Paragraphs>
  <Slides>31</Slides>
  <Notes>31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Arial</vt:lpstr>
      <vt:lpstr>SimSun</vt:lpstr>
      <vt:lpstr>Wingdings</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Perplexity 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creator>Perplexity</dc:creator>
  <dc:subject>PptxGenJS Presentation</dc:subject>
  <cp:lastModifiedBy>WPS_1773770013</cp:lastModifiedBy>
  <cp:revision>2</cp:revision>
  <dcterms:created xsi:type="dcterms:W3CDTF">2026-03-25T20:57:00Z</dcterms:created>
  <dcterms:modified xsi:type="dcterms:W3CDTF">2026-03-25T21:13:26Z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63F586A01B884E038FEB21F8382E4B6A_12</vt:lpwstr>
  </property>
</Properties>
</file>